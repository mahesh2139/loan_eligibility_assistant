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hesh Kumar" userId="98d339e7a53905f6" providerId="LiveId" clId="{1BD50F9A-90CC-46DF-ABA8-FDB7F3C2D660}"/>
    <pc:docChg chg="undo custSel modSld">
      <pc:chgData name="Mahesh Kumar" userId="98d339e7a53905f6" providerId="LiveId" clId="{1BD50F9A-90CC-46DF-ABA8-FDB7F3C2D660}" dt="2026-09-27T10:44:29.772" v="7" actId="403"/>
      <pc:docMkLst>
        <pc:docMk/>
      </pc:docMkLst>
      <pc:sldChg chg="delSp modSp mod">
        <pc:chgData name="Mahesh Kumar" userId="98d339e7a53905f6" providerId="LiveId" clId="{1BD50F9A-90CC-46DF-ABA8-FDB7F3C2D660}" dt="2026-09-27T10:44:29.772" v="7" actId="403"/>
        <pc:sldMkLst>
          <pc:docMk/>
          <pc:sldMk cId="0" sldId="256"/>
        </pc:sldMkLst>
        <pc:spChg chg="mod">
          <ac:chgData name="Mahesh Kumar" userId="98d339e7a53905f6" providerId="LiveId" clId="{1BD50F9A-90CC-46DF-ABA8-FDB7F3C2D660}" dt="2026-09-27T10:44:13.189" v="3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Mahesh Kumar" userId="98d339e7a53905f6" providerId="LiveId" clId="{1BD50F9A-90CC-46DF-ABA8-FDB7F3C2D660}" dt="2026-09-27T10:44:15.061" v="4" actId="1076"/>
          <ac:spMkLst>
            <pc:docMk/>
            <pc:sldMk cId="0" sldId="256"/>
            <ac:spMk id="3" creationId="{00000000-0000-0000-0000-000000000000}"/>
          </ac:spMkLst>
        </pc:spChg>
        <pc:spChg chg="del">
          <ac:chgData name="Mahesh Kumar" userId="98d339e7a53905f6" providerId="LiveId" clId="{1BD50F9A-90CC-46DF-ABA8-FDB7F3C2D660}" dt="2026-09-26T18:02:44.557" v="0" actId="478"/>
          <ac:spMkLst>
            <pc:docMk/>
            <pc:sldMk cId="0" sldId="256"/>
            <ac:spMk id="4" creationId="{00000000-0000-0000-0000-000000000000}"/>
          </ac:spMkLst>
        </pc:spChg>
        <pc:spChg chg="del">
          <ac:chgData name="Mahesh Kumar" userId="98d339e7a53905f6" providerId="LiveId" clId="{1BD50F9A-90CC-46DF-ABA8-FDB7F3C2D660}" dt="2026-09-26T18:02:46.297" v="1" actId="478"/>
          <ac:spMkLst>
            <pc:docMk/>
            <pc:sldMk cId="0" sldId="256"/>
            <ac:spMk id="5" creationId="{00000000-0000-0000-0000-000000000000}"/>
          </ac:spMkLst>
        </pc:spChg>
        <pc:spChg chg="mod">
          <ac:chgData name="Mahesh Kumar" userId="98d339e7a53905f6" providerId="LiveId" clId="{1BD50F9A-90CC-46DF-ABA8-FDB7F3C2D660}" dt="2026-09-27T10:44:18.664" v="5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Mahesh Kumar" userId="98d339e7a53905f6" providerId="LiveId" clId="{1BD50F9A-90CC-46DF-ABA8-FDB7F3C2D660}" dt="2026-09-27T10:44:29.772" v="7" actId="403"/>
          <ac:spMkLst>
            <pc:docMk/>
            <pc:sldMk cId="0" sldId="256"/>
            <ac:spMk id="7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80644" y="564642"/>
            <a:ext cx="11000232" cy="22860"/>
          </a:xfrm>
          <a:prstGeom prst="rect">
            <a:avLst/>
          </a:prstGeom>
          <a:solidFill>
            <a:srgbClr val="B56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0644" y="108425"/>
            <a:ext cx="1100023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50" b="1" i="0" dirty="0">
                <a:solidFill>
                  <a:srgbClr val="0E1E38"/>
                </a:solidFill>
                <a:latin typeface="Cambria"/>
              </a:rPr>
              <a:t>Inconsistent loan pre-qualification costs banks both revenue and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" y="876521"/>
            <a:ext cx="1100023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5B6B85"/>
                </a:solidFill>
                <a:latin typeface="Calibri"/>
              </a:rPr>
              <a:t>Lending policies change frequently across products — creating a costly gap at the very first customer touchpoint.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10058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 i="0">
                <a:solidFill>
                  <a:srgbClr val="8595AC"/>
                </a:solidFill>
                <a:latin typeface="Calibri"/>
              </a:rPr>
              <a:t>Banking Pre-Qualification Challenge · Personal, Home &amp; Auto Lending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01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8132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WHY TODAY'S PRE-QUALIFICATION PROCESS BREAKS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37360"/>
            <a:ext cx="3502152" cy="17830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A6B"/>
                </a:solidFill>
                <a:latin typeface="Cambria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12848"/>
            <a:ext cx="31363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3A6B"/>
                </a:solidFill>
                <a:latin typeface="Calibri"/>
              </a:rPr>
              <a:t>Fragmented, Moving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23744"/>
            <a:ext cx="313639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25+ interacting rules across Personal, Home, and Auto loans change on independent risk cycles — making manual checks slow and error-prone.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02152" cy="1783080"/>
          </a:xfrm>
          <a:prstGeom prst="roundRect">
            <a:avLst>
              <a:gd name="adj" fmla="val 6000"/>
            </a:avLst>
          </a:prstGeom>
          <a:solidFill>
            <a:srgbClr val="FAEDE9"/>
          </a:solidFill>
          <a:ln w="12700">
            <a:solidFill>
              <a:srgbClr val="E8C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1865376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93321F"/>
                </a:solidFill>
                <a:latin typeface="Cambr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12848"/>
            <a:ext cx="31363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93321F"/>
                </a:solidFill>
                <a:latin typeface="Calibri"/>
              </a:rPr>
              <a:t>Wrong 'Yes' = Customer Complaints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523744"/>
            <a:ext cx="313639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Telling an ineligible borrower they qualify leads to late-stage rejection, formal complaints, and wasted underwriting effort.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502152" cy="1783080"/>
          </a:xfrm>
          <a:prstGeom prst="roundRect">
            <a:avLst>
              <a:gd name="adj" fmla="val 6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19" y="1865376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B5651D"/>
                </a:solidFill>
                <a:latin typeface="Cambr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212848"/>
            <a:ext cx="31363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B5651D"/>
                </a:solidFill>
                <a:latin typeface="Calibri"/>
              </a:rPr>
              <a:t>Wrong 'No' = Silent Revenue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2523744"/>
            <a:ext cx="313639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Turning away a creditworthy borrower by mistake sends profitable lending business straight to a competitor.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703320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BRIDGING THE GAP — WHY GENERIC AI IS NOT ENOUGH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950208"/>
            <a:ext cx="5376672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8C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078224"/>
            <a:ext cx="50109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93321F"/>
                </a:solidFill>
                <a:latin typeface="Calibri"/>
              </a:rPr>
              <a:t>The Risk of Standard AI Chatbots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389120"/>
            <a:ext cx="5010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80" b="1">
                <a:solidFill>
                  <a:srgbClr val="93321F"/>
                </a:solidFill>
                <a:latin typeface="Calibri"/>
              </a:rPr>
              <a:t>• Guesses the Math</a:t>
            </a:r>
            <a:r>
              <a:rPr sz="1080" b="0">
                <a:solidFill>
                  <a:srgbClr val="334155"/>
                </a:solidFill>
                <a:latin typeface="Calibri"/>
              </a:rPr>
              <a:t> — Standard LLMs miscalculate EMI, obligation ratios, and loan limits.</a:t>
            </a:r>
          </a:p>
          <a:p>
            <a:pPr algn="l">
              <a:spcAft>
                <a:spcPts val="500"/>
              </a:spcAft>
            </a:pPr>
            <a:r>
              <a:rPr sz="1080" b="1">
                <a:solidFill>
                  <a:srgbClr val="93321F"/>
                </a:solidFill>
                <a:latin typeface="Calibri"/>
              </a:rPr>
              <a:t>• Mixes Policy Versions</a:t>
            </a:r>
            <a:r>
              <a:rPr sz="1080" b="0">
                <a:solidFill>
                  <a:srgbClr val="334155"/>
                </a:solidFill>
                <a:latin typeface="Calibri"/>
              </a:rPr>
              <a:t> — Pulls outdated thresholds when credit policies are updated.</a:t>
            </a:r>
          </a:p>
          <a:p>
            <a:pPr algn="l">
              <a:spcAft>
                <a:spcPts val="500"/>
              </a:spcAft>
            </a:pPr>
            <a:r>
              <a:rPr sz="1080" b="1">
                <a:solidFill>
                  <a:srgbClr val="93321F"/>
                </a:solidFill>
                <a:latin typeface="Calibri"/>
              </a:rPr>
              <a:t>• Compliance Exposure</a:t>
            </a:r>
            <a:r>
              <a:rPr sz="1080" b="0">
                <a:solidFill>
                  <a:srgbClr val="334155"/>
                </a:solidFill>
                <a:latin typeface="Calibri"/>
              </a:rPr>
              <a:t> — Risks making unverified promises or inventing policy rules.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950208"/>
            <a:ext cx="5376672" cy="1664208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 w="19050">
            <a:solidFill>
              <a:srgbClr val="C6D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4078224"/>
            <a:ext cx="50109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6F43"/>
                </a:solidFill>
                <a:latin typeface="Calibri"/>
              </a:rPr>
              <a:t>The LoanAssist 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389120"/>
            <a:ext cx="5010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80" b="1">
                <a:solidFill>
                  <a:srgbClr val="1F6F43"/>
                </a:solidFill>
                <a:latin typeface="Calibri"/>
              </a:rPr>
              <a:t>• Zero-Guesswork Rule Engine</a:t>
            </a:r>
            <a:r>
              <a:rPr sz="1080" b="0">
                <a:solidFill>
                  <a:srgbClr val="1E4631"/>
                </a:solidFill>
                <a:latin typeface="Calibri"/>
              </a:rPr>
              <a:t> — 100% of EMI math and credit rules run in deterministic code.</a:t>
            </a:r>
          </a:p>
          <a:p>
            <a:pPr algn="l">
              <a:spcAft>
                <a:spcPts val="500"/>
              </a:spcAft>
            </a:pPr>
            <a:r>
              <a:rPr sz="1080" b="1">
                <a:solidFill>
                  <a:srgbClr val="1F6F43"/>
                </a:solidFill>
                <a:latin typeface="Calibri"/>
              </a:rPr>
              <a:t>• Version-Locked Policy RAG</a:t>
            </a:r>
            <a:r>
              <a:rPr sz="1080" b="0">
                <a:solidFill>
                  <a:srgbClr val="1E4631"/>
                </a:solidFill>
                <a:latin typeface="Calibri"/>
              </a:rPr>
              <a:t> — Always evaluates and cites the active approved policy version.</a:t>
            </a:r>
          </a:p>
          <a:p>
            <a:pPr algn="l">
              <a:spcAft>
                <a:spcPts val="500"/>
              </a:spcAft>
            </a:pPr>
            <a:r>
              <a:rPr sz="1080" b="1">
                <a:solidFill>
                  <a:srgbClr val="1F6F43"/>
                </a:solidFill>
                <a:latin typeface="Calibri"/>
              </a:rPr>
              <a:t>• Built-In Compliance Boundary</a:t>
            </a:r>
            <a:r>
              <a:rPr sz="1080" b="0">
                <a:solidFill>
                  <a:srgbClr val="1E4631"/>
                </a:solidFill>
                <a:latin typeface="Calibri"/>
              </a:rPr>
              <a:t> — Provides pre-qualification guidance only — never final approval.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833872"/>
            <a:ext cx="11000232" cy="530352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 w="12700">
            <a:solidFill>
              <a:srgbClr val="0E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731520" y="5952744"/>
            <a:ext cx="1508760" cy="292607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5952744"/>
            <a:ext cx="150876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95728" y="5907024"/>
            <a:ext cx="9052560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mbria"/>
              </a:rPr>
              <a:t>Turn a 15-minute manual policy lookup into an instant, 100% compliant self-service pre-qualification experience.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329184"/>
            <a:ext cx="11000232" cy="22860"/>
          </a:xfrm>
          <a:prstGeom prst="rect">
            <a:avLst/>
          </a:prstGeom>
          <a:solidFill>
            <a:srgbClr val="B56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5651D"/>
                </a:solidFill>
                <a:latin typeface="Calibri"/>
              </a:rPr>
              <a:t>02 · THE SOLUTION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11480"/>
            <a:ext cx="38221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EXECUTIVE PITCH DECK · LOANASSIST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0080"/>
            <a:ext cx="1100023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50" b="1" i="0">
                <a:solidFill>
                  <a:srgbClr val="0E1E38"/>
                </a:solidFill>
                <a:latin typeface="Cambria"/>
              </a:rPr>
              <a:t>One intelligent assistant across Personal, Home, and Auto loans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110002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B6B85"/>
                </a:solidFill>
                <a:latin typeface="Calibri"/>
              </a:rPr>
              <a:t>Designed around natural customer conversation — without rigid forms, product tags, or repetitive questions.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10058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>
                <a:solidFill>
                  <a:srgbClr val="8595AC"/>
                </a:solidFill>
                <a:latin typeface="Calibri"/>
              </a:rPr>
              <a:t>Comprehensive Retail Lending Coverage · 3 Products · Co-Applicant Pooling · 40 Versioned Policy Clauses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02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63040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END-TO-END COVERAGE ACROSS THREE CORE RETAIL LENDING PRODUCTS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19072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1828800"/>
            <a:ext cx="3172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A6B"/>
                </a:solidFill>
                <a:latin typeface="Cambria"/>
              </a:rPr>
              <a:t>Personal Loan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84831"/>
            <a:ext cx="317296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5B6B85"/>
                </a:solidFill>
                <a:latin typeface="Calibri"/>
              </a:rPr>
              <a:t>Unsecured Credit · Up to ₹30 Lakhs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2322576"/>
            <a:ext cx="3172968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Target Borrower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Salaried &amp; self-employed individuals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Key Checks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Age 21–60, Income ≥₹25K, CIBIL ≥700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Affordability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Total EMIs capped at 40% of monthly income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Tenure &amp; Rate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12 to 60 months · 12.0% p.a. benchmark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19072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EBF2FA"/>
          </a:solidFill>
          <a:ln w="12700">
            <a:solidFill>
              <a:srgbClr val="C3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07992" y="1828800"/>
            <a:ext cx="3172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A6B"/>
                </a:solidFill>
                <a:latin typeface="Cambria"/>
              </a:rPr>
              <a:t>Home Loan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084831"/>
            <a:ext cx="317296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5B6B85"/>
                </a:solidFill>
                <a:latin typeface="Calibri"/>
              </a:rPr>
              <a:t>Property-Backed · Up to ₹5 Crores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322576"/>
            <a:ext cx="3172968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Eligible Property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Apartments, villas &amp; residential houses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Key Checks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Age 21–65, Income ≥₹40K (or Joint Pooled), CIBIL ≥700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Joint Applicants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Co-applicant income &amp; EMI pooling to expand loan power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LTV &amp; Rate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Up to 80% property value · 8.5% p.a. (up to 30 yrs)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19072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1828800"/>
            <a:ext cx="3172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5651D"/>
                </a:solidFill>
                <a:latin typeface="Cambria"/>
              </a:rPr>
              <a:t>Auto Loan (New)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084831"/>
            <a:ext cx="317296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5B6B85"/>
                </a:solidFill>
                <a:latin typeface="Calibri"/>
              </a:rPr>
              <a:t>Vehicle-Backed · Up to ₹50 Lakhs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322576"/>
            <a:ext cx="3172968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Vehicle Scope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2-Wheelers, Cars/SUVs, Commercial &amp; EVs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Key Checks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Age 21–65, Income ≥₹20K, CIBIL ≥680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On-Road LTV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Up to 85% for New · 70% for Used (≤10 yrs)</a:t>
            </a:r>
          </a:p>
          <a:p>
            <a:pPr algn="l">
              <a:spcAft>
                <a:spcPts val="450"/>
              </a:spcAft>
            </a:pPr>
            <a:r>
              <a:rPr sz="1019" b="1">
                <a:solidFill>
                  <a:srgbClr val="0E1E38"/>
                </a:solidFill>
                <a:latin typeface="Calibri"/>
              </a:rPr>
              <a:t>• Tenure &amp; Rate</a:t>
            </a:r>
            <a:r>
              <a:rPr sz="1019" b="0">
                <a:solidFill>
                  <a:srgbClr val="334155"/>
                </a:solidFill>
                <a:latin typeface="Calibri"/>
              </a:rPr>
              <a:t> — Up to 84m new / 60m used · 9.0% p.a.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023360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FOUR CAPABILITIES THAT ELEVATE THE CUSTOMER EXPERIENCE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279392"/>
            <a:ext cx="537667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94360" y="4279392"/>
            <a:ext cx="73152" cy="6400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352544"/>
            <a:ext cx="5047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B3A6B"/>
                </a:solidFill>
                <a:latin typeface="Calibri"/>
              </a:rPr>
              <a:t>Understands Everyday Language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53712"/>
            <a:ext cx="50474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Calibri"/>
              </a:rPr>
              <a:t>Customers never pick from dropdowns. Saying 'house loan', 'building loan', 'scooter loan', or 'used car' automatically routes to the right policy.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279392"/>
            <a:ext cx="537667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4279392"/>
            <a:ext cx="73152" cy="6400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4352544"/>
            <a:ext cx="5047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B3A6B"/>
                </a:solidFill>
                <a:latin typeface="Calibri"/>
              </a:rPr>
              <a:t>Remembers Every Detail Across Turns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53712"/>
            <a:ext cx="50474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0" b="0">
                <a:solidFill>
                  <a:srgbClr val="334155"/>
                </a:solidFill>
                <a:latin typeface="Calibri"/>
              </a:rPr>
              <a:t>Captures profile details (including co-applicants) progressively across multi-turn chat and merges them — never re-asking known info.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010912"/>
            <a:ext cx="537667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4360" y="5010912"/>
            <a:ext cx="73152" cy="640080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084064"/>
            <a:ext cx="5047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B5651D"/>
                </a:solidFill>
                <a:latin typeface="Calibri"/>
              </a:rPr>
              <a:t>Adverse-Action Remediation Advice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85231"/>
            <a:ext cx="50474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0" b="0">
                <a:solidFill>
                  <a:srgbClr val="334155"/>
                </a:solidFill>
                <a:latin typeface="Calibri"/>
              </a:rPr>
              <a:t>When a borrower falls short, the deterministic engine calculates 4 exact remediation pathways: lower loan, longer tenure, EMI clearance, or co-applicant.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010912"/>
            <a:ext cx="537667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217920" y="5010912"/>
            <a:ext cx="73152" cy="640080"/>
          </a:xfrm>
          <a:prstGeom prst="rect">
            <a:avLst/>
          </a:prstGeom>
          <a:solidFill>
            <a:srgbClr val="1F6F43"/>
          </a:solidFill>
          <a:ln w="12700">
            <a:solidFill>
              <a:srgbClr val="1F6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5084064"/>
            <a:ext cx="5047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F6F43"/>
                </a:solidFill>
                <a:latin typeface="Calibri"/>
              </a:rPr>
              <a:t>Clean, On-Demand Document Guidance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285231"/>
            <a:ext cx="50474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60" b="0" i="0">
                <a:solidFill>
                  <a:srgbClr val="334155"/>
                </a:solidFill>
                <a:latin typeface="Calibri"/>
              </a:rPr>
              <a:t>Keeps eligibility answers crisp and uncluttered — providing tailored KYC, property, or vehicle document checklists only when asked.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33872"/>
            <a:ext cx="11000232" cy="530352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 w="12700">
            <a:solidFill>
              <a:srgbClr val="0E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31520" y="5952744"/>
            <a:ext cx="1508760" cy="292607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5952744"/>
            <a:ext cx="150876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Calibri"/>
              </a:rPr>
              <a:t>SCOPE BOUNDARY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95728" y="5907024"/>
            <a:ext cx="9052560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mbria"/>
              </a:rPr>
              <a:t>Delivers instant pre-qualification &amp; affordability guidance — while keeping final credit underwriting with bank officers.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329184"/>
            <a:ext cx="11000232" cy="22860"/>
          </a:xfrm>
          <a:prstGeom prst="rect">
            <a:avLst/>
          </a:prstGeom>
          <a:solidFill>
            <a:srgbClr val="B56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5651D"/>
                </a:solidFill>
                <a:latin typeface="Calibri"/>
              </a:rPr>
              <a:t>03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11480"/>
            <a:ext cx="38221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EXECUTIVE PITCH DECK · LOANASSIST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0080"/>
            <a:ext cx="1100023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50" b="1" i="0">
                <a:solidFill>
                  <a:srgbClr val="0E1E38"/>
                </a:solidFill>
                <a:latin typeface="Cambria"/>
              </a:rPr>
              <a:t>AI handles the conversation; a deterministic engine handles the rules and math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110002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B6B85"/>
                </a:solidFill>
                <a:latin typeface="Calibri"/>
              </a:rPr>
              <a:t>By separating language understanding from credit-rule execution, LoanAssist eliminates AI hallucinations by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10058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>
                <a:solidFill>
                  <a:srgbClr val="8595AC"/>
                </a:solidFill>
                <a:latin typeface="Calibri"/>
              </a:rPr>
              <a:t>Neuro-Symbolic Architecture · Hybrid RAG (Dense + BM25) · Automated Remediation Solver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03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8132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FOUR-STEP DECISION ENGINE — FROM CUSTOMER CHAT TO AUDITED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2578608" cy="23317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664" y="1865376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B5651D"/>
                </a:solidFill>
                <a:latin typeface="Calibri"/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066543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3A6B"/>
                </a:solidFill>
                <a:latin typeface="Cambria"/>
              </a:rPr>
              <a:t>Understand Customer Intent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40864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5B6B85"/>
                </a:solidFill>
                <a:latin typeface="Calibri"/>
              </a:rPr>
              <a:t>Conversational AI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615184"/>
            <a:ext cx="22860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334155"/>
                </a:solidFill>
                <a:latin typeface="Calibri"/>
              </a:rPr>
              <a:t>• Identifies loan product &amp; informational FAQ intent
• Extracts primary + co-applicant income &amp; obligations
• Merges multi-turn profile context dynamically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256" y="2697480"/>
            <a:ext cx="1920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595A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1755648"/>
            <a:ext cx="2578608" cy="2331720"/>
          </a:xfrm>
          <a:prstGeom prst="roundRect">
            <a:avLst>
              <a:gd name="adj" fmla="val 6000"/>
            </a:avLst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47872" y="1865376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BBF24"/>
                </a:solidFill>
                <a:latin typeface="Calibri"/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2066543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mbria"/>
              </a:rPr>
              <a:t>Compute Math &amp; Credit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2340864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CBD5E1"/>
                </a:solidFill>
                <a:latin typeface="Calibri"/>
              </a:rPr>
              <a:t>Deterministic Rule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615184"/>
            <a:ext cx="22860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FFFFFF"/>
                </a:solidFill>
                <a:latin typeface="Calibri"/>
              </a:rPr>
              <a:t>• Pools household income &amp; calculates EMI, FOIR &amp; LTV
• Evaluates all 25+ product policy rules deterministically
• Solves adverse-action remediation &amp; max affordable loan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3" y="2697480"/>
            <a:ext cx="1920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595AC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5" y="1755648"/>
            <a:ext cx="2578608" cy="2331720"/>
          </a:xfrm>
          <a:prstGeom prst="roundRect">
            <a:avLst>
              <a:gd name="adj" fmla="val 6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79" y="1865376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B5651D"/>
                </a:solidFill>
                <a:latin typeface="Calibri"/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79" y="2066543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B5651D"/>
                </a:solidFill>
                <a:latin typeface="Cambria"/>
              </a:rPr>
              <a:t>Retrieve Active Policy Clause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2340864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5B6B85"/>
                </a:solidFill>
                <a:latin typeface="Calibri"/>
              </a:rPr>
              <a:t>Hybrid RAG &amp; Semantic FAQ 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79" y="2615184"/>
            <a:ext cx="22860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334155"/>
                </a:solidFill>
                <a:latin typeface="Calibri"/>
              </a:rPr>
              <a:t>• Hybrid retrieval: Dense ChromaDB + BM25 with RRF &amp; boost
• Sub-15ms semantic FAQ cache for common policy queries
• Version-locked policy isolation (v1/v2) prevents drift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5672" y="2697480"/>
            <a:ext cx="1920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595AC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15984" y="1755648"/>
            <a:ext cx="2578608" cy="2331720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 w="12700">
            <a:solidFill>
              <a:srgbClr val="C6D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62288" y="1865376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B5651D"/>
                </a:solidFill>
                <a:latin typeface="Calibri"/>
              </a:rPr>
              <a:t>STEP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2066543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F6F43"/>
                </a:solidFill>
                <a:latin typeface="Cambria"/>
              </a:rPr>
              <a:t>Explain, Cite &amp;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40864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5B6B85"/>
                </a:solidFill>
                <a:latin typeface="Calibri"/>
              </a:rPr>
              <a:t>Guarded Streaming 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615184"/>
            <a:ext cx="22860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334155"/>
                </a:solidFill>
                <a:latin typeface="Calibri"/>
              </a:rPr>
              <a:t>• Streams explanation with structured remediation options
• Attaches verified policy Rule ID citations &amp; cards
• DPDP Act (2023) consent, PII masking &amp; sliding sessions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6110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WHY TECHNOLOGY &amp; RISK LEADERS TRUST THIS ARCHITECTURE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517136"/>
            <a:ext cx="5376672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626864"/>
            <a:ext cx="501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  <a:latin typeface="Calibri"/>
              </a:rPr>
              <a:t>1. Zero Hallucinations on Numbers or Decisions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82896"/>
            <a:ext cx="501091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 i="0">
                <a:solidFill>
                  <a:srgbClr val="334155"/>
                </a:solidFill>
                <a:latin typeface="Calibri"/>
              </a:rPr>
              <a:t>The AI model is never allowed to calculate EMIs or decide whether a customer passes a rule. Every number and pass/fail outcome is computed deterministically before the AI writes its response.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517136"/>
            <a:ext cx="5376672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0" y="4626864"/>
            <a:ext cx="501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B5651D"/>
                </a:solidFill>
                <a:latin typeface="Calibri"/>
              </a:rPr>
              <a:t>2. Instant Policy Updates Without Rebuilding Software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82896"/>
            <a:ext cx="501091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 i="0">
                <a:solidFill>
                  <a:srgbClr val="334155"/>
                </a:solidFill>
                <a:latin typeface="Calibri"/>
              </a:rPr>
              <a:t>When Credit Risk updates a policy (for example, tightening Personal Loan CIBIL from 650 in v1 to 700 in v2), promoting the new policy version is an instant configuration switch — with full version tracking.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833872"/>
            <a:ext cx="11000232" cy="530352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 w="12700">
            <a:solidFill>
              <a:srgbClr val="0E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31520" y="5952744"/>
            <a:ext cx="1508760" cy="292607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952744"/>
            <a:ext cx="150876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Calibri"/>
              </a:rPr>
              <a:t>ARCHITECTURAL EDGE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95728" y="5907024"/>
            <a:ext cx="9052560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mbria"/>
              </a:rPr>
              <a:t>Combines the natural empathy of GenAI with the strict precision of a bank underwriting calculator.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329184"/>
            <a:ext cx="11000232" cy="22860"/>
          </a:xfrm>
          <a:prstGeom prst="rect">
            <a:avLst/>
          </a:prstGeom>
          <a:solidFill>
            <a:srgbClr val="B56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5651D"/>
                </a:solidFill>
                <a:latin typeface="Calibri"/>
              </a:rPr>
              <a:t>04 · CUSTOMER EXPERIENCE &amp;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11480"/>
            <a:ext cx="38221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EXECUTIVE PITCH DECK · LOANASSIST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0080"/>
            <a:ext cx="1100023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50" b="1" i="0">
                <a:solidFill>
                  <a:srgbClr val="0E1E38"/>
                </a:solidFill>
                <a:latin typeface="Cambria"/>
              </a:rPr>
              <a:t>From a casual inquiry to an audited decision in under 60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110002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B6B85"/>
                </a:solidFill>
                <a:latin typeface="Calibri"/>
              </a:rPr>
              <a:t>A seamless multi-turn conversation that guides the borrower, explains the math, and adapts to follow-up questions.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10058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>
                <a:solidFill>
                  <a:srgbClr val="8595AC"/>
                </a:solidFill>
                <a:latin typeface="Calibri"/>
              </a:rPr>
              <a:t>Live Demo Scenario · Multi-Turn Home Loan, Co-Applicant &amp; Remediation Walkthrough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04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6304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ILLUSTRATIVE CUSTOMER JOURNEY (SHOWN LIVE IN DEMO)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19072"/>
            <a:ext cx="11000232" cy="969264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810512"/>
            <a:ext cx="3474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1" i="0">
                <a:solidFill>
                  <a:srgbClr val="1B3A6B"/>
                </a:solidFill>
                <a:latin typeface="Calibri"/>
              </a:rPr>
              <a:t>TURN 1 · NATURAL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11679"/>
            <a:ext cx="34747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1E38"/>
                </a:solidFill>
                <a:latin typeface="Cambria"/>
              </a:rPr>
              <a:t>Customer: “I want a house loan to buy a flat worth ₹80 Lakhs.”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6995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1B3A6B"/>
                </a:solidFill>
                <a:latin typeface="Calibri"/>
              </a:rPr>
              <a:t>What Happens Behind the Scenes: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993391"/>
            <a:ext cx="699516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334155"/>
                </a:solidFill>
                <a:latin typeface="Calibri"/>
              </a:rPr>
              <a:t>• Recognizes 'house loan' as a Home Loan automatically — no dropdown required.
• Records Property Value (₹80L) and Type (Apartment), then politely asks only for income, age &amp; CIBIL.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798064"/>
            <a:ext cx="11000232" cy="969264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 w="12700">
            <a:solidFill>
              <a:srgbClr val="C6D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2889504"/>
            <a:ext cx="3474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1" i="0">
                <a:solidFill>
                  <a:srgbClr val="1F6F43"/>
                </a:solidFill>
                <a:latin typeface="Calibri"/>
              </a:rPr>
              <a:t>TURN 2 · INSTANT DECISION &amp; MATH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090672"/>
            <a:ext cx="34747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1E38"/>
                </a:solidFill>
                <a:latin typeface="Cambria"/>
              </a:rPr>
              <a:t>Customer: “I'm 34, salaried 3 yrs, income ₹1.2L/mo, CIBIL 740, EMI ₹8K, need ₹60L for 20 yrs.”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889504"/>
            <a:ext cx="6995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1F6F43"/>
                </a:solidFill>
                <a:latin typeface="Calibri"/>
              </a:rPr>
              <a:t>Assistant Outcome — POTENTIALLY ELIGIBLE: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072384"/>
            <a:ext cx="699516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19" b="0">
                <a:solidFill>
                  <a:srgbClr val="334155"/>
                </a:solidFill>
                <a:latin typeface="Calibri"/>
              </a:rPr>
              <a:t>• Combines Turn 1 + Turn 2 details seamlessly without re-asking a single field.
• Displays exact KPIs: Monthly EMI ₹52,069 · Obligation Ratio (FOIR) 50% · Property LTV 75%.
• Auto-generates adverse-action remediation options if ineligible (lower loan, tenure, or co-borrower).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77056"/>
            <a:ext cx="11000232" cy="969264"/>
          </a:xfrm>
          <a:prstGeom prst="roundRect">
            <a:avLst>
              <a:gd name="adj" fmla="val 6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968496"/>
            <a:ext cx="3474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1" i="0">
                <a:solidFill>
                  <a:srgbClr val="B5651D"/>
                </a:solidFill>
                <a:latin typeface="Calibri"/>
              </a:rPr>
              <a:t>TURN 3 · WHAT-IF &amp; DOCUMENTS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69664"/>
            <a:ext cx="34747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1E38"/>
                </a:solidFill>
                <a:latin typeface="Cambria"/>
              </a:rPr>
              <a:t>Customer: “What if I borrow ₹50 Lakhs instead, and what documents will I need?”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968496"/>
            <a:ext cx="6995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B5651D"/>
                </a:solidFill>
                <a:latin typeface="Calibri"/>
              </a:rPr>
              <a:t>Proactive Guidance on Demand: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151376"/>
            <a:ext cx="699516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334155"/>
                </a:solidFill>
                <a:latin typeface="Calibri"/>
              </a:rPr>
              <a:t>• Simulates the ₹50L scenario instantly: Monthly EMI drops to ₹43,391 and LTV improves to 62.5%.
• Provides the 9-point Home Loan KYC &amp; Property Document Checklist only because the customer asked.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10912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595AC"/>
                </a:solidFill>
                <a:latin typeface="Calibri"/>
              </a:rPr>
              <a:t>FOUR TRANSPARENT PRE-QUALIFICATION OUTCOMES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230368"/>
            <a:ext cx="2606040" cy="493776"/>
          </a:xfrm>
          <a:prstGeom prst="roundRect">
            <a:avLst>
              <a:gd name="adj" fmla="val 8000"/>
            </a:avLst>
          </a:prstGeom>
          <a:solidFill>
            <a:srgbClr val="EAF4EE"/>
          </a:solidFill>
          <a:ln w="12700">
            <a:solidFill>
              <a:srgbClr val="C6D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2376" y="5276088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6F43"/>
                </a:solidFill>
                <a:latin typeface="Calibri"/>
              </a:rPr>
              <a:t>Potentially Eligible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5468112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0" i="0">
                <a:solidFill>
                  <a:srgbClr val="334155"/>
                </a:solidFill>
                <a:latin typeface="Calibri"/>
              </a:rPr>
              <a:t>All policy rules pass; ready for formal application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92424" y="5230368"/>
            <a:ext cx="2606040" cy="493776"/>
          </a:xfrm>
          <a:prstGeom prst="roundRect">
            <a:avLst>
              <a:gd name="adj" fmla="val 8000"/>
            </a:avLst>
          </a:prstGeom>
          <a:solidFill>
            <a:srgbClr val="FAEDE9"/>
          </a:solidFill>
          <a:ln w="12700">
            <a:solidFill>
              <a:srgbClr val="E8C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20440" y="5276088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3321F"/>
                </a:solidFill>
                <a:latin typeface="Calibri"/>
              </a:rPr>
              <a:t>Not Eligible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5468112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0">
                <a:solidFill>
                  <a:srgbClr val="334155"/>
                </a:solidFill>
                <a:latin typeface="Calibri"/>
              </a:rPr>
              <a:t>Adverse-Action Remediation: exact math to qualify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0488" y="5230368"/>
            <a:ext cx="2606040" cy="493776"/>
          </a:xfrm>
          <a:prstGeom prst="roundRect">
            <a:avLst>
              <a:gd name="adj" fmla="val 8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18503" y="5276088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5651D"/>
                </a:solidFill>
                <a:latin typeface="Calibri"/>
              </a:rPr>
              <a:t>Manual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3" y="5468112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0" i="0">
                <a:solidFill>
                  <a:srgbClr val="334155"/>
                </a:solidFill>
                <a:latin typeface="Calibri"/>
              </a:rPr>
              <a:t>Flags borderline cases for a credit officer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88552" y="5230368"/>
            <a:ext cx="2606040" cy="493776"/>
          </a:xfrm>
          <a:prstGeom prst="roundRect">
            <a:avLst>
              <a:gd name="adj" fmla="val 8000"/>
            </a:avLst>
          </a:prstGeom>
          <a:solidFill>
            <a:srgbClr val="EBF2FA"/>
          </a:solidFill>
          <a:ln w="12700">
            <a:solidFill>
              <a:srgbClr val="C3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16568" y="5276088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  <a:latin typeface="Calibri"/>
              </a:rPr>
              <a:t>Needs Information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8" y="5468112"/>
            <a:ext cx="23500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" b="0" i="0">
                <a:solidFill>
                  <a:srgbClr val="334155"/>
                </a:solidFill>
                <a:latin typeface="Calibri"/>
              </a:rPr>
              <a:t>Collects missing details conversationally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833872"/>
            <a:ext cx="11000232" cy="530352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 w="12700">
            <a:solidFill>
              <a:srgbClr val="0E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31520" y="5952744"/>
            <a:ext cx="1508760" cy="292607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1520" y="5952744"/>
            <a:ext cx="150876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Calibri"/>
              </a:rPr>
              <a:t>CONVERSION IMPACT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95728" y="5907024"/>
            <a:ext cx="9052560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mbria"/>
              </a:rPr>
              <a:t>Even when a borrower is Not Eligible today, LoanAssist generates concrete remediation pathways: loan reduction, tenure extension, or co-applicant pooling.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329184"/>
            <a:ext cx="11000232" cy="22860"/>
          </a:xfrm>
          <a:prstGeom prst="rect">
            <a:avLst/>
          </a:prstGeom>
          <a:solidFill>
            <a:srgbClr val="B56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5651D"/>
                </a:solidFill>
                <a:latin typeface="Calibri"/>
              </a:rPr>
              <a:t>05 · RISK, GOVERNANCE &amp; 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11480"/>
            <a:ext cx="38221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EXECUTIVE PITCH DECK · LOANASSIST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0080"/>
            <a:ext cx="1100023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50" b="1" i="0">
                <a:solidFill>
                  <a:srgbClr val="0E1E38"/>
                </a:solidFill>
                <a:latin typeface="Cambria"/>
              </a:rPr>
              <a:t>Built-in compliance guardrails, privacy masking, and automated quality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110002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B6B85"/>
                </a:solidFill>
                <a:latin typeface="Calibri"/>
              </a:rPr>
              <a:t>Designed to meet banking risk, audit, and compliance expectations from 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10058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>
                <a:solidFill>
                  <a:srgbClr val="8595AC"/>
                </a:solidFill>
                <a:latin typeface="Calibri"/>
              </a:rPr>
              <a:t>Enterprise Controls · 96 Automated Tests · RAG Triad Benchmarks · DPDP Act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05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2606040" cy="1115568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 w="12700">
            <a:solidFill>
              <a:srgbClr val="C6D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572768"/>
            <a:ext cx="22768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F6F43"/>
                </a:solidFill>
                <a:latin typeface="Cambria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1993392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80" b="1" i="0">
                <a:solidFill>
                  <a:srgbClr val="0E1E38"/>
                </a:solidFill>
                <a:latin typeface="Calibri"/>
              </a:rPr>
              <a:t>Math or Threshold Guesswork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212848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 i="0">
                <a:solidFill>
                  <a:srgbClr val="5B6B85"/>
                </a:solidFill>
                <a:latin typeface="Calibri"/>
              </a:rPr>
              <a:t>100% deterministic calculation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481328"/>
            <a:ext cx="2606040" cy="1115568"/>
          </a:xfrm>
          <a:prstGeom prst="roundRect">
            <a:avLst>
              <a:gd name="adj" fmla="val 6000"/>
            </a:avLst>
          </a:prstGeom>
          <a:solidFill>
            <a:srgbClr val="EBF2FA"/>
          </a:solidFill>
          <a:ln w="12700">
            <a:solidFill>
              <a:srgbClr val="C3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57016" y="1572768"/>
            <a:ext cx="22768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B3A6B"/>
                </a:solidFill>
                <a:latin typeface="Cambria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1993392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80" b="1" i="0">
                <a:solidFill>
                  <a:srgbClr val="0E1E38"/>
                </a:solidFill>
                <a:latin typeface="Calibri"/>
              </a:rPr>
              <a:t>Policy-Cited Decisions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2212848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 i="0">
                <a:solidFill>
                  <a:srgbClr val="5B6B85"/>
                </a:solidFill>
                <a:latin typeface="Calibri"/>
              </a:rPr>
              <a:t>Unverified rule claims are blocked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481328"/>
            <a:ext cx="2606040" cy="1115568"/>
          </a:xfrm>
          <a:prstGeom prst="roundRect">
            <a:avLst>
              <a:gd name="adj" fmla="val 6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79" y="1572768"/>
            <a:ext cx="22768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B5651D"/>
                </a:solidFill>
                <a:latin typeface="Cambria"/>
              </a:rPr>
              <a:t>96 / 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79" y="1993392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80" b="1">
                <a:solidFill>
                  <a:srgbClr val="0E1E38"/>
                </a:solidFill>
                <a:latin typeface="Calibri"/>
              </a:rPr>
              <a:t>Automated Tests &amp; Benchmarks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212848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>
                <a:solidFill>
                  <a:srgbClr val="5B6B85"/>
                </a:solidFill>
                <a:latin typeface="Calibri"/>
              </a:rPr>
              <a:t>Rules, calculators, pooling &amp; RAG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2" y="1481328"/>
            <a:ext cx="2606040" cy="1115568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53144" y="1572768"/>
            <a:ext cx="227685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B3A6B"/>
                </a:solidFill>
                <a:latin typeface="Cambria"/>
              </a:rPr>
              <a:t>15 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993392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80" b="1" i="0">
                <a:solidFill>
                  <a:srgbClr val="0E1E38"/>
                </a:solidFill>
                <a:latin typeface="Calibri"/>
              </a:rPr>
              <a:t>Pre-Release Quality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2212848"/>
            <a:ext cx="22768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 i="0">
                <a:solidFill>
                  <a:srgbClr val="5B6B85"/>
                </a:solidFill>
                <a:latin typeface="Calibri"/>
              </a:rPr>
              <a:t>Blocks bad updates automatically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7980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THREE PILLARS OF BANKING RISK &amp; COMPLIANCE CONTROL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054096"/>
            <a:ext cx="3502152" cy="2578608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2" y="3182112"/>
            <a:ext cx="3172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  <a:latin typeface="Calibri"/>
              </a:rPr>
              <a:t>1. Three-Layer Safety Guardrails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3511296"/>
            <a:ext cx="31729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Input Protection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Blocks adversarial prompts, jailbreak attempts, and non-banking queries before AI processing.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No Approval Promises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Scans outgoing sentences in real time to ensure the assistant never claims 'guaranteed approval'.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Verified Citations Only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Cross-checks every cited Rule ID against the official policy document before showing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054096"/>
            <a:ext cx="3502152" cy="2578608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7992" y="3182112"/>
            <a:ext cx="3172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B3A6B"/>
                </a:solidFill>
                <a:latin typeface="Calibri"/>
              </a:rPr>
              <a:t>2. Privacy, DPDP Act &amp; Regulator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3511296"/>
            <a:ext cx="31729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DPDP Act (2023) Compliance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Explicit consent banner, right to clear data, and sliding-TTL session lifecycle.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Automatic PII Masking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Redacts PAN, Aadhaar, mobile numbers, and bank account numbers prior to logging.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Complete Audit Trail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Every decision logs exact Policy ID, Rule IDs, remediation options &amp; timestamped telemetry.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2440" y="3054096"/>
            <a:ext cx="3502152" cy="2578608"/>
          </a:xfrm>
          <a:prstGeom prst="roundRect">
            <a:avLst>
              <a:gd name="adj" fmla="val 6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57031" y="3182112"/>
            <a:ext cx="3172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B5651D"/>
                </a:solidFill>
                <a:latin typeface="Calibri"/>
              </a:rPr>
              <a:t>3. RAG Triad &amp; Automated Release 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3511296"/>
            <a:ext cx="31729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96 Automated Tests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Verifies EMI math, rules, co-applicant pooling, and remediation on every single code push.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Quantitative RAG Triad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Evaluates Context Relevance, Groundedness/Faithfulness &amp; Answer Relevance benchmarks.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0E1E38"/>
                </a:solidFill>
                <a:latin typeface="Calibri"/>
              </a:rPr>
              <a:t>• Pre-Merge Quality Gate</a:t>
            </a:r>
            <a:r>
              <a:rPr sz="1000" b="0">
                <a:solidFill>
                  <a:srgbClr val="334155"/>
                </a:solidFill>
                <a:latin typeface="Calibri"/>
              </a:rPr>
              <a:t> — 15 end-to-end customer scenarios block policy drift and ungrounded claims automatically.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833872"/>
            <a:ext cx="11000232" cy="530352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 w="12700">
            <a:solidFill>
              <a:srgbClr val="0E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31520" y="5952744"/>
            <a:ext cx="1508760" cy="292607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5952744"/>
            <a:ext cx="150876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Calibri"/>
              </a:rPr>
              <a:t>GOVERNANCE ASSURANCE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95728" y="5907024"/>
            <a:ext cx="9052560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mbria"/>
              </a:rPr>
              <a:t>Every answer is traceable to an exact policy version and Rule ID — giving Risk and Compliance complete visibility.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329184"/>
            <a:ext cx="11000232" cy="22860"/>
          </a:xfrm>
          <a:prstGeom prst="rect">
            <a:avLst/>
          </a:prstGeom>
          <a:solidFill>
            <a:srgbClr val="B56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B5651D"/>
                </a:solidFill>
                <a:latin typeface="Calibri"/>
              </a:rPr>
              <a:t>06 · BUSINESS IMPACT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11480"/>
            <a:ext cx="382219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EXECUTIVE PITCH DECK · LOANASSIST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0080"/>
            <a:ext cx="1100023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50" b="1" i="0">
                <a:solidFill>
                  <a:srgbClr val="0E1E38"/>
                </a:solidFill>
                <a:latin typeface="Cambria"/>
              </a:rPr>
              <a:t>Ready for pilot today — with a clear path to full enterprise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110002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B6B85"/>
                </a:solidFill>
                <a:latin typeface="Calibri"/>
              </a:rPr>
              <a:t>What is live and demonstrated today, and the three-phase roadmap to full production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10058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19" b="0" i="0">
                <a:solidFill>
                  <a:srgbClr val="8595AC"/>
                </a:solidFill>
                <a:latin typeface="Calibri"/>
              </a:rPr>
              <a:t>Executive Summary &amp; Next Steps · Live Demonstration Follow-Up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8595AC"/>
                </a:solidFill>
                <a:latin typeface="Calibri"/>
              </a:rPr>
              <a:t>06 / 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4983480" cy="4151376"/>
          </a:xfrm>
          <a:prstGeom prst="roundRect">
            <a:avLst>
              <a:gd name="adj" fmla="val 5000"/>
            </a:avLst>
          </a:prstGeom>
          <a:solidFill>
            <a:srgbClr val="EAF4EE"/>
          </a:solidFill>
          <a:ln w="12700">
            <a:solidFill>
              <a:srgbClr val="C6DF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62763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6F43"/>
                </a:solidFill>
                <a:latin typeface="Calibri"/>
              </a:rPr>
              <a:t>BUSINESS VALUE DELIVERED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E4631"/>
                </a:solidFill>
                <a:latin typeface="Calibri"/>
              </a:rPr>
              <a:t>Live, end-to-end capabilities ready for immediate pilot: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12848"/>
            <a:ext cx="457200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1F6F43"/>
                </a:solidFill>
                <a:latin typeface="Calibri"/>
              </a:rPr>
              <a:t>• Faster Customer Pre-Qualification</a:t>
            </a:r>
            <a:r>
              <a:rPr sz="1050" b="0">
                <a:solidFill>
                  <a:srgbClr val="1E4631"/>
                </a:solidFill>
                <a:latin typeface="Calibri"/>
              </a:rPr>
              <a:t> — Compresses policy checks into &lt;60s chat with sub-15ms cached FAQ responses.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1F6F43"/>
                </a:solidFill>
                <a:latin typeface="Calibri"/>
              </a:rPr>
              <a:t>• Three Retail Products + Co-Applicant Pooling</a:t>
            </a:r>
            <a:r>
              <a:rPr sz="1050" b="0">
                <a:solidFill>
                  <a:srgbClr val="1E4631"/>
                </a:solidFill>
                <a:latin typeface="Calibri"/>
              </a:rPr>
              <a:t> — Covers Personal, Home &amp; Auto loans with joint household income &amp; EMI pooling.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1F6F43"/>
                </a:solidFill>
                <a:latin typeface="Calibri"/>
              </a:rPr>
              <a:t>• Automated Adverse-Action Remediation</a:t>
            </a:r>
            <a:r>
              <a:rPr sz="1050" b="0">
                <a:solidFill>
                  <a:srgbClr val="1E4631"/>
                </a:solidFill>
                <a:latin typeface="Calibri"/>
              </a:rPr>
              <a:t> — Retains and converts ineligible borrowers via algorithmic counter-offers &amp; pathways.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1F6F43"/>
                </a:solidFill>
                <a:latin typeface="Calibri"/>
              </a:rPr>
              <a:t>• 100% Policy &amp; Math Consistency</a:t>
            </a:r>
            <a:r>
              <a:rPr sz="1050" b="0">
                <a:solidFill>
                  <a:srgbClr val="1E4631"/>
                </a:solidFill>
                <a:latin typeface="Calibri"/>
              </a:rPr>
              <a:t> — Hybrid RAG (BM25 + Dense) and deterministic rules eliminate hallucinations.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1F6F43"/>
                </a:solidFill>
                <a:latin typeface="Calibri"/>
              </a:rPr>
              <a:t>• DPDP Act (2023) Compliance &amp; Privacy</a:t>
            </a:r>
            <a:r>
              <a:rPr sz="1050" b="0">
                <a:solidFill>
                  <a:srgbClr val="1E4631"/>
                </a:solidFill>
                <a:latin typeface="Calibri"/>
              </a:rPr>
              <a:t> — Sliding-TTL session store, explicit consent banner, and automated PII redaction.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481328"/>
            <a:ext cx="574243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595AC"/>
                </a:solidFill>
                <a:latin typeface="Calibri"/>
              </a:rPr>
              <a:t>THREE-PHASE PATH TO BANK-WIDE PRODUCTION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737360"/>
            <a:ext cx="5742432" cy="1225296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D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998464" y="1847088"/>
            <a:ext cx="1600200" cy="219456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98464" y="184708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1 ·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1828800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mbria"/>
              </a:rPr>
              <a:t>Digital Pre-Qualification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139696"/>
            <a:ext cx="5449824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334155"/>
                </a:solidFill>
                <a:latin typeface="Calibri"/>
              </a:rPr>
              <a:t>• Deploy across web &amp; branch assist tablets for Personal, Home &amp; Auto loans
• Capture customer intent, affordability metrics, and versioned audit logs
• Monitor conversion lift and policy rule hit-rates in real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072384"/>
            <a:ext cx="5742432" cy="1225296"/>
          </a:xfrm>
          <a:prstGeom prst="roundRect">
            <a:avLst>
              <a:gd name="adj" fmla="val 6000"/>
            </a:avLst>
          </a:prstGeom>
          <a:solidFill>
            <a:srgbClr val="EBF2FA"/>
          </a:solidFill>
          <a:ln w="12700">
            <a:solidFill>
              <a:srgbClr val="C3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98464" y="3182112"/>
            <a:ext cx="1600200" cy="219456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98464" y="3182112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2 · NEXT 60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7536" y="316382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mbria"/>
              </a:rPr>
              <a:t>Verified Data &amp; Document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8464" y="3474720"/>
            <a:ext cx="5449824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>
                <a:solidFill>
                  <a:srgbClr val="334155"/>
                </a:solidFill>
                <a:latin typeface="Calibri"/>
              </a:rPr>
              <a:t>• Connect live Credit Bureau (CIBIL / Experian) and Account Aggregator APIs
• Add automated OCR verification for pay slips, bank statements &amp; vehicle quotes
• Pre-approved offer matching &amp; automated interest rate discount engine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4407408"/>
            <a:ext cx="5742432" cy="1225296"/>
          </a:xfrm>
          <a:prstGeom prst="roundRect">
            <a:avLst>
              <a:gd name="adj" fmla="val 6000"/>
            </a:avLst>
          </a:prstGeom>
          <a:solidFill>
            <a:srgbClr val="FBF1E6"/>
          </a:solidFill>
          <a:ln w="12700">
            <a:solidFill>
              <a:srgbClr val="E7C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998464" y="4517136"/>
            <a:ext cx="1600200" cy="219456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98464" y="4517136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3 · 90+ DAYS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4498848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5651D"/>
                </a:solidFill>
                <a:latin typeface="Cambria"/>
              </a:rPr>
              <a:t>Core Banking &amp; Omnichannel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98464" y="4809744"/>
            <a:ext cx="5449824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0" i="0">
                <a:solidFill>
                  <a:srgbClr val="334155"/>
                </a:solidFill>
                <a:latin typeface="Calibri"/>
              </a:rPr>
              <a:t>• One-click handoff of pre-qualified profiles into the Loan Origination System (LOS)
• Expand to WhatsApp Banking and regional Indian languages
• Maker-Checker policy publishing portal for Credit Risk teams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833872"/>
            <a:ext cx="11000232" cy="530352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 w="12700">
            <a:solidFill>
              <a:srgbClr val="0E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731520" y="5952744"/>
            <a:ext cx="1508760" cy="292607"/>
          </a:xfrm>
          <a:prstGeom prst="roundRect">
            <a:avLst>
              <a:gd name="adj" fmla="val 20000"/>
            </a:avLst>
          </a:prstGeom>
          <a:solidFill>
            <a:srgbClr val="B5651D"/>
          </a:solidFill>
          <a:ln w="12700">
            <a:solidFill>
              <a:srgbClr val="B565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5952744"/>
            <a:ext cx="150876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Calibri"/>
              </a:rPr>
              <a:t>BOTTOM 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95728" y="5907024"/>
            <a:ext cx="9052560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mbria"/>
              </a:rPr>
              <a:t>LoanAssist transforms loan pre-qualification into a fast, trustworthy, and auditable growth engine for the bank.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</TotalTime>
  <Words>2023</Words>
  <Application>Microsoft Office PowerPoint</Application>
  <PresentationFormat>Widescreen</PresentationFormat>
  <Paragraphs>182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Mahesh Kumar</cp:lastModifiedBy>
  <cp:revision>1</cp:revision>
  <dcterms:created xsi:type="dcterms:W3CDTF">2013-01-27T09:14:16Z</dcterms:created>
  <dcterms:modified xsi:type="dcterms:W3CDTF">2026-09-27T10:44:31Z</dcterms:modified>
  <cp:category/>
</cp:coreProperties>
</file>