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Kumar" userId="98d339e7a53905f6" providerId="LiveId" clId="{1BD50F9A-90CC-46DF-ABA8-FDB7F3C2D660}"/>
    <pc:docChg chg="modSld">
      <pc:chgData name="Mahesh Kumar" userId="98d339e7a53905f6" providerId="LiveId" clId="{1BD50F9A-90CC-46DF-ABA8-FDB7F3C2D660}" dt="2026-09-26T17:56:37.809" v="0" actId="1076"/>
      <pc:docMkLst>
        <pc:docMk/>
      </pc:docMkLst>
      <pc:sldChg chg="modSp mod">
        <pc:chgData name="Mahesh Kumar" userId="98d339e7a53905f6" providerId="LiveId" clId="{1BD50F9A-90CC-46DF-ABA8-FDB7F3C2D660}" dt="2026-09-26T17:56:37.809" v="0" actId="1076"/>
        <pc:sldMkLst>
          <pc:docMk/>
          <pc:sldMk cId="0" sldId="258"/>
        </pc:sldMkLst>
        <pc:spChg chg="mod">
          <ac:chgData name="Mahesh Kumar" userId="98d339e7a53905f6" providerId="LiveId" clId="{1BD50F9A-90CC-46DF-ABA8-FDB7F3C2D660}" dt="2026-09-26T17:56:37.809" v="0" actId="1076"/>
          <ac:spMkLst>
            <pc:docMk/>
            <pc:sldMk cId="0" sldId="25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01 · 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Inconsistent loan pre-qualification costs banks both revenue and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Lending policies change frequently across products — creating a costly gap at the very first customer touchpoint.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Banking Pre-Qualification Challenge · Personal, Home &amp; Auto Lending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01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WHY TODAY'S PRE-QUALIFICATION PROCESS BREAKS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mbr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3A6B"/>
                </a:solidFill>
                <a:latin typeface="Calibri"/>
              </a:rPr>
              <a:t>Fragmented, Moving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25+ interacting rules across Personal, Home, and Auto loans change on independent risk cycles — making manual checks slow and error-prone.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93321F"/>
                </a:solidFill>
                <a:latin typeface="Cambr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93321F"/>
                </a:solidFill>
                <a:latin typeface="Calibri"/>
              </a:rPr>
              <a:t>Wrong 'Yes' = Customer 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Telling an ineligible borrower they qualify leads to late-stage rejection, formal complaints, and wasted underwriting effort.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B5651D"/>
                </a:solidFill>
                <a:latin typeface="Cambr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B5651D"/>
                </a:solidFill>
                <a:latin typeface="Calibri"/>
              </a:rPr>
              <a:t>Wrong 'No' = Silent Revenue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Turning away a creditworthy borrower by mistake sends profitable lending business straight to a competitor.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033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BRIDGING THE GAP — WHY GENERIC AI IS NOT ENOUGH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50208"/>
            <a:ext cx="5376672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078224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3321F"/>
                </a:solidFill>
                <a:latin typeface="Calibri"/>
              </a:rPr>
              <a:t>The Risk of Standard AI Chatbots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5010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Guesses the Math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Standard LLMs miscalculate EMI, obligation ratios, and loan limits.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Mixes Policy Versions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Pulls outdated thresholds when credit policies are updated.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Compliance Exposure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Risks making unverified promises or inventing policy rules.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50208"/>
            <a:ext cx="5376672" cy="1664208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905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078224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6F43"/>
                </a:solidFill>
                <a:latin typeface="Calibri"/>
              </a:rPr>
              <a:t>The LoanAssist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5010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Zero-Guesswork Rule Engine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100% of EMI math and credit rules run in deterministic code.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Version-Locked Policy RAG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Always evaluates and cites the active approved policy version.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Built-In Compliance Boundary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Provides pre-qualification guidance only — never final approval.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Turn a 15-minute manual policy lookup into an instant, 100% compliant self-service pre-qualification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02 · THE SOLUTION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One intelligent assistant across Personal, Home, and Auto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Designed around natural customer conversation — without rigid forms, product tags, or repetitive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Comprehensive Retail Lending Coverage · 3 Products · 40 Versioned Policy Clauses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02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END-TO-END COVERAGE ACROSS THREE CORE RETAIL LENDING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mbria"/>
              </a:rPr>
              <a:t>Personal Loan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Unsecured Credit · Up to ₹30 Lakhs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Target Borrower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Salaried &amp; self-employed individuals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21–60, Income ≥₹25K, CIBIL ≥700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Affordability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Total EMIs capped at 40% of monthly income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12 to 60 months · 12.0% p.a. benchmark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mbria"/>
              </a:rPr>
              <a:t>Home Loan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Property-Backed · Up to ₹5 Crores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Eligible Property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Apartments, villas &amp; residential houses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21–65, Income ≥₹40K, CIBIL ≥700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LTV &amp; Margin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80% property value; ≥20% down payment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5 to 30 years · 8.5% p.a.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5651D"/>
                </a:solidFill>
                <a:latin typeface="Cambria"/>
              </a:rPr>
              <a:t>Auto Loan (New)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Vehicle-Backed · Up to ₹50 Lakhs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Vehicle Scope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2-Wheelers, Cars/SUVs, Commercial &amp; EVs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21–65, Income ≥₹20K, CIBIL ≥680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On-Road LTV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85% for New · 70% for Used (≤10 yrs)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84m new / 60m used · 9.0% p.a.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FOUR CAPABILITIES THAT ELEVATE THE CUSTOMER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7939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279392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5254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Understands Everyday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5371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Customers never pick from dropdowns. Saying 'house loan', 'building loan', 'scooter loan', or 'used car' automatically routes to the right policy.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7939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279392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35254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Remembers Every Detail Across Turns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5371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Captures profile details progressively across the chat and merges them — never asking the customer to repeat known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1091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5010912"/>
            <a:ext cx="73152" cy="64008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08406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Calibri"/>
              </a:rPr>
              <a:t>Instant 'What-If' Affordability Advice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85231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When a borrower falls short, the assistant calculates their maximum affordable loan or shows how a higher down payment unlocks eligibility.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1091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010912"/>
            <a:ext cx="73152" cy="640080"/>
          </a:xfrm>
          <a:prstGeom prst="rect">
            <a:avLst/>
          </a:prstGeom>
          <a:solidFill>
            <a:srgbClr val="1F6F43"/>
          </a:solidFill>
          <a:ln w="1270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508406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6F43"/>
                </a:solidFill>
                <a:latin typeface="Calibri"/>
              </a:rPr>
              <a:t>Clean, On-Demand Document Guidance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85231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Keeps eligibility answers crisp and uncluttered — providing tailored KYC, property, or vehicle document checklists only when asked.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SCOPE BOUNDARY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Delivers instant pre-qualification &amp; affordability guidance — while keeping final credit underwriting with bank officers.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AI handles the conversation; a deterministic engine handles the rules and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1115568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By separating language understanding from credit-rule execution, LoanAssist eliminates AI hallucinations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Neuro-Symbolic Architecture · Zero AI Math Guesswork · Hot-Swappable Policy 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03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FOUR-STEP DECISION ENGINE — FROM CUSTOMER CHAT TO AUDITED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3A6B"/>
                </a:solidFill>
                <a:latin typeface="Cambria"/>
              </a:rPr>
              <a:t>Understand Customer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Conversational 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Identifies loan product from natural phrasing
• Extracts income, age, CIBIL &amp; collateral details
• Merges with earlier conversation 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7872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Compute Math &amp; Credit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BD5E1"/>
                </a:solidFill>
                <a:latin typeface="Calibri"/>
              </a:rPr>
              <a:t>Deterministic Rule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Calibri"/>
              </a:rPr>
              <a:t>• Calculates exact monthly EMI, FOIR &amp; LTV
• Evaluates all 25 product policy thresholds
• Computes maximum affordable loan 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3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5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79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B5651D"/>
                </a:solidFill>
                <a:latin typeface="Cambria"/>
              </a:rPr>
              <a:t>Retrieve Active Policy Clause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Versioned Policy 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Pulls only the active policy version (v1 or v2)
• Matches exact Rule IDs to every check
• Prevents outdated rules from leaking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5984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62288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F6F43"/>
                </a:solidFill>
                <a:latin typeface="Cambria"/>
              </a:rPr>
              <a:t>Explain, Cite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Guarded Streaming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Streams a clear, plain-language explanation
• Attaches verified policy Rule ID citations
• Records a complete, privacy-masked 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61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WHY TECHNOLOGY &amp; RISK LEADERS TRUST THIS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517136"/>
            <a:ext cx="5376672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626864"/>
            <a:ext cx="501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1. Zero Hallucinations on Numbers or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82896"/>
            <a:ext cx="501091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The AI model is never allowed to calculate EMIs or decide whether a customer passes a rule. Every number and pass/fail outcome is computed deterministically before the AI writes its response.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17136"/>
            <a:ext cx="5376672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26864"/>
            <a:ext cx="501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5651D"/>
                </a:solidFill>
                <a:latin typeface="Calibri"/>
              </a:rPr>
              <a:t>2. Instant Policy Updates Without Rebuilding Software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82896"/>
            <a:ext cx="501091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When Credit Risk updates a policy (for example, tightening Personal Loan CIBIL from 650 in v1 to 700 in v2), promoting the new policy version is an instant configuration switch — with full version tracking.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ARCHITECTURAL EDGE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Combines the natural empathy of GenAI with the strict precision of a bank underwriting calculator.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04 · CUSTOMER EXPERIENCE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From a casual inquiry to an audited decision in under 60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A seamless multi-turn conversation that guides the borrower, explains the math, and adapts to follow-up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Live Demo Scenario · Multi-Turn Home Loan &amp; What-If Affordability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ILLUSTRATIVE CUSTOMER JOURNEY (SHOWN LIVE IN DEMO)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19072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B3A6B"/>
                </a:solidFill>
                <a:latin typeface="Calibri"/>
              </a:rPr>
              <a:t>TURN 1 · NATURAL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79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“I want a house loan to buy a flat worth ₹80 Lakhs.”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10512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B3A6B"/>
                </a:solidFill>
                <a:latin typeface="Calibri"/>
              </a:rPr>
              <a:t>What Happens Behind the Scenes: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93391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Recognizes 'house loan' as a Home Loan automatically — no dropdown required.
• Records Property Value (₹80L) and Type (Apartment), then politely asks only for income, age &amp; CIBIL.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98064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889504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F6F43"/>
                </a:solidFill>
                <a:latin typeface="Calibri"/>
              </a:rPr>
              <a:t>TURN 2 · INSTANT DECISION &amp; MATH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“I'm 34, salaried 3 yrs, income ₹1.2L/mo, CIBIL 740, EMI ₹8K, need ₹60L for 20 yrs.”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89504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F6F43"/>
                </a:solidFill>
                <a:latin typeface="Calibri"/>
              </a:rPr>
              <a:t>Assistant Outcome — POTENTIALLY ELIGIBLE: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72384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Combines Turn 1 + Turn 2 details seamlessly without re-asking a single field.
• Displays exact KPIs: Monthly EMI ₹52,069 · Obligation Ratio (FOIR) 50% · Property LTV 75%.
• Cites Home Loan Policy v2 rules (Age, Income, CIBIL, FOIR, LTV) in an expandable audit 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77056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B5651D"/>
                </a:solidFill>
                <a:latin typeface="Calibri"/>
              </a:rPr>
              <a:t>TURN 3 · WHAT-IF &amp;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9664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“What if I borrow ₹50 Lakhs instead, and what documents will I need?”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68496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B5651D"/>
                </a:solidFill>
                <a:latin typeface="Calibri"/>
              </a:rPr>
              <a:t>Proactive Guidance on Demand: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51376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Simulates the ₹50L scenario instantly: Monthly EMI drops to ₹43,391 and LTV improves to 62.5%.
• Provides the 9-point Home Loan KYC &amp; Property Document Checklist only because the customer asked.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1091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595AC"/>
                </a:solidFill>
                <a:latin typeface="Calibri"/>
              </a:rPr>
              <a:t>FOUR TRANSPARENT PRE-QUALIFICATION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6F43"/>
                </a:solidFill>
                <a:latin typeface="Calibri"/>
              </a:rPr>
              <a:t>Potentially Eligible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All policy rules pass; ready for formal application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2424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0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3321F"/>
                </a:solidFill>
                <a:latin typeface="Calibri"/>
              </a:rPr>
              <a:t>Not Eligible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Explains exact failed rule + how to qualify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3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Manual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3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Flags borderline cases for a credit officer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16568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  <a:latin typeface="Calibri"/>
              </a:rPr>
              <a:t>Needs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Collects missing details conversationally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CONVERSION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Even when a borrower is Not Eligible today, LoanAssist shows the exact loan amount or down payment that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05 · RISK, GOVERNANCE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Built-in compliance guardrails, privacy masking, and automated quality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Designed to meet banking risk, audit, and compliance expectations from 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Enterprise Controls · 80 Automated Unit Tests · 15 End-to-End Evaluation Gates · Full JSONL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6F43"/>
                </a:solidFill>
                <a:latin typeface="Cambria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Math or Threshold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100% deterministic 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7016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mbr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Policy-Cited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Unverified rule claims are blocked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79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B5651D"/>
                </a:solidFill>
                <a:latin typeface="Cambria"/>
              </a:rPr>
              <a:t>80 / 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Automated Rule Tests Passing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Covers all 3 loan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53144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mbria"/>
              </a:rPr>
              <a:t>15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Pre-Release Quality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Blocks bad updates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79806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THREE PILLARS OF BANKING RISK &amp; COMPLIANCE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1. Three-Layer Safety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Input Protection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Blocks adversarial prompts, jailbreak attempts, and non-banking queries before AI processing.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No Approval Promises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Scans outgoing sentences in real time to ensure the assistant never claims 'guaranteed approval'.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Verified Citations Only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Cross-checks every cited Rule ID against the official policy document before showing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2. Privacy &amp; Regulator-Ready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Automatic PII Masking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Redacts PAN, Aadhaar, mobile numbers, emails, and account numbers before writing any log.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Version-Stamped Trail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Every decision logs the exact Policy ID, Policy Version (v1/v2), rule checks, and timestamp.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Live Operational Telemetry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Real-time dashboards track traffic volume, response speed, and decision outcomes.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B5651D"/>
                </a:solidFill>
                <a:latin typeface="Calibri"/>
              </a:rPr>
              <a:t>3. Automated Release Protection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Tested on Every Change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80 unit tests verify EMI math and policy boundaries on every single code push.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Pre-Merge Quality Gate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15 end-to-end customer scenarios test Personal, Home, and Auto loan accuracy automatically.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Blocks Policy Drift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If a change accidentally weakens a credit rule or breaks a citation, deployment is blocked.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GOVERNANCE ASSURANCE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Every answer is traceable to an exact policy version and Rule ID — giving Risk and Compliance complete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06 · BUSINESS 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Ready for pilot today — with a clear path to full enterprise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What is live and demonstrated today, and the three-phase roadmap to full production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Executive Summary &amp; Next Steps · Live Demonstration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4983480" cy="415137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6276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6F43"/>
                </a:solidFill>
                <a:latin typeface="Calibri"/>
              </a:rPr>
              <a:t>BUSINESS VALUE DELIVERED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E4631"/>
                </a:solidFill>
                <a:latin typeface="Calibri"/>
              </a:rPr>
              <a:t>Live, end-to-end capabilities ready for immediate pilot: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12848"/>
            <a:ext cx="457200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Faster Customer Pre-Qualification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Compresses a 15-minute manual policy check into a &lt;60-second self-service digital conversation.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Three Retail Products in One Chat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Covers Personal Loans, Home Loans, and Auto Loans (Cars, 2-Wheelers, Commercial &amp; EVs) seamlessly.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Higher Borrower Conversion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Interactive 'What-If' affordability guidance retains customers who need to adjust loan amount or tenure.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100% Policy &amp; Calculation Consistency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Eliminates human interpretation gaps and AI math errors with deterministic rule execution.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Zero Data Egress Privacy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Capable of running entirely on local infrastructure so sensitive financial data never leaves the bank.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481328"/>
            <a:ext cx="5742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THREE-PHASE PATH TO BANK-WIDE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737360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98464" y="1847088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184708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1 ·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1828800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mbria"/>
              </a:rPr>
              <a:t>Digital Pre-Qualification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139696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Deploy across web &amp; branch assist tablets for Personal, Home &amp; Auto loans
• Capture customer intent, affordability metrics, and versioned audit logs
• Monitor conversion lift and policy rule hit-rates in real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072384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98464" y="3182112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98464" y="318211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2 · NEXT 60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163824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mbria"/>
              </a:rPr>
              <a:t>Verified Data &amp; Document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3474720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Connect live Credit Bureau (CIBIL / Experian) and Account Aggregator APIs
• Add automated OCR verification for pay slips, bank statements &amp; vehicle quotes
• Introduce joint co-applicant income pooling for Home Loans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407408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98464" y="4517136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98464" y="4517136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3 · 90+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4498848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mbria"/>
              </a:rPr>
              <a:t>Core Banking &amp; Omnichannel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8464" y="4809744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One-click handoff of pre-qualified profiles into the Loan Origination System (LOS)
• Expand to WhatsApp Banking and regional Indian languages
• Maker-Checker policy publishing portal for Credit Risk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LoanAssist transforms loan pre-qualification into a fast, trustworthy, and auditable growth engine for the 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2033</Words>
  <Application>Microsoft Office PowerPoint</Application>
  <PresentationFormat>Widescreen</PresentationFormat>
  <Paragraphs>184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 Kumar</cp:lastModifiedBy>
  <cp:revision>1</cp:revision>
  <dcterms:created xsi:type="dcterms:W3CDTF">2013-01-27T09:14:16Z</dcterms:created>
  <dcterms:modified xsi:type="dcterms:W3CDTF">2026-09-26T17:56:42Z</dcterms:modified>
  <cp:category/>
</cp:coreProperties>
</file>