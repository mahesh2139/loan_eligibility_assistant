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67E4B6-F7D8-41AB-8C79-260BDC0B09A1}" v="1" dt="2026-09-26T15:59:28.6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esh Kumar" userId="98d339e7a53905f6" providerId="LiveId" clId="{1BD50F9A-90CC-46DF-ABA8-FDB7F3C2D660}"/>
    <pc:docChg chg="undo custSel delSld modSld">
      <pc:chgData name="Mahesh Kumar" userId="98d339e7a53905f6" providerId="LiveId" clId="{1BD50F9A-90CC-46DF-ABA8-FDB7F3C2D660}" dt="2026-09-26T16:11:10.610" v="98" actId="478"/>
      <pc:docMkLst>
        <pc:docMk/>
      </pc:docMkLst>
      <pc:sldChg chg="delSp modSp mod">
        <pc:chgData name="Mahesh Kumar" userId="98d339e7a53905f6" providerId="LiveId" clId="{1BD50F9A-90CC-46DF-ABA8-FDB7F3C2D660}" dt="2026-09-26T15:33:10.567" v="1" actId="478"/>
        <pc:sldMkLst>
          <pc:docMk/>
          <pc:sldMk cId="0" sldId="256"/>
        </pc:sldMkLst>
        <pc:spChg chg="mod">
          <ac:chgData name="Mahesh Kumar" userId="98d339e7a53905f6" providerId="LiveId" clId="{1BD50F9A-90CC-46DF-ABA8-FDB7F3C2D660}" dt="2026-09-26T15:11:02.607" v="0" actId="1076"/>
          <ac:spMkLst>
            <pc:docMk/>
            <pc:sldMk cId="0" sldId="256"/>
            <ac:spMk id="4" creationId="{00000000-0000-0000-0000-000000000000}"/>
          </ac:spMkLst>
        </pc:spChg>
        <pc:spChg chg="del">
          <ac:chgData name="Mahesh Kumar" userId="98d339e7a53905f6" providerId="LiveId" clId="{1BD50F9A-90CC-46DF-ABA8-FDB7F3C2D660}" dt="2026-09-26T15:33:10.567" v="1" actId="478"/>
          <ac:spMkLst>
            <pc:docMk/>
            <pc:sldMk cId="0" sldId="256"/>
            <ac:spMk id="8" creationId="{00000000-0000-0000-0000-000000000000}"/>
          </ac:spMkLst>
        </pc:spChg>
      </pc:sldChg>
      <pc:sldChg chg="delSp modSp mod">
        <pc:chgData name="Mahesh Kumar" userId="98d339e7a53905f6" providerId="LiveId" clId="{1BD50F9A-90CC-46DF-ABA8-FDB7F3C2D660}" dt="2026-09-26T15:59:44.068" v="58" actId="403"/>
        <pc:sldMkLst>
          <pc:docMk/>
          <pc:sldMk cId="0" sldId="257"/>
        </pc:sldMkLst>
        <pc:spChg chg="mod">
          <ac:chgData name="Mahesh Kumar" userId="98d339e7a53905f6" providerId="LiveId" clId="{1BD50F9A-90CC-46DF-ABA8-FDB7F3C2D660}" dt="2026-09-26T15:53:21.815" v="36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Mahesh Kumar" userId="98d339e7a53905f6" providerId="LiveId" clId="{1BD50F9A-90CC-46DF-ABA8-FDB7F3C2D660}" dt="2026-09-26T15:53:26.461" v="37" actId="1076"/>
          <ac:spMkLst>
            <pc:docMk/>
            <pc:sldMk cId="0" sldId="257"/>
            <ac:spMk id="3" creationId="{00000000-0000-0000-0000-000000000000}"/>
          </ac:spMkLst>
        </pc:spChg>
        <pc:spChg chg="del mod">
          <ac:chgData name="Mahesh Kumar" userId="98d339e7a53905f6" providerId="LiveId" clId="{1BD50F9A-90CC-46DF-ABA8-FDB7F3C2D660}" dt="2026-09-26T15:34:55.268" v="6" actId="478"/>
          <ac:spMkLst>
            <pc:docMk/>
            <pc:sldMk cId="0" sldId="257"/>
            <ac:spMk id="4" creationId="{00000000-0000-0000-0000-000000000000}"/>
          </ac:spMkLst>
        </pc:spChg>
        <pc:spChg chg="del">
          <ac:chgData name="Mahesh Kumar" userId="98d339e7a53905f6" providerId="LiveId" clId="{1BD50F9A-90CC-46DF-ABA8-FDB7F3C2D660}" dt="2026-09-26T15:34:57.824" v="7" actId="478"/>
          <ac:spMkLst>
            <pc:docMk/>
            <pc:sldMk cId="0" sldId="257"/>
            <ac:spMk id="5" creationId="{00000000-0000-0000-0000-000000000000}"/>
          </ac:spMkLst>
        </pc:spChg>
        <pc:spChg chg="mod">
          <ac:chgData name="Mahesh Kumar" userId="98d339e7a53905f6" providerId="LiveId" clId="{1BD50F9A-90CC-46DF-ABA8-FDB7F3C2D660}" dt="2026-09-26T15:35:08.966" v="10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Mahesh Kumar" userId="98d339e7a53905f6" providerId="LiveId" clId="{1BD50F9A-90CC-46DF-ABA8-FDB7F3C2D660}" dt="2026-09-26T15:53:28.567" v="38" actId="1076"/>
          <ac:spMkLst>
            <pc:docMk/>
            <pc:sldMk cId="0" sldId="257"/>
            <ac:spMk id="7" creationId="{00000000-0000-0000-0000-000000000000}"/>
          </ac:spMkLst>
        </pc:spChg>
        <pc:spChg chg="del">
          <ac:chgData name="Mahesh Kumar" userId="98d339e7a53905f6" providerId="LiveId" clId="{1BD50F9A-90CC-46DF-ABA8-FDB7F3C2D660}" dt="2026-09-26T15:34:45.711" v="2" actId="478"/>
          <ac:spMkLst>
            <pc:docMk/>
            <pc:sldMk cId="0" sldId="257"/>
            <ac:spMk id="8" creationId="{00000000-0000-0000-0000-000000000000}"/>
          </ac:spMkLst>
        </pc:spChg>
        <pc:spChg chg="del">
          <ac:chgData name="Mahesh Kumar" userId="98d339e7a53905f6" providerId="LiveId" clId="{1BD50F9A-90CC-46DF-ABA8-FDB7F3C2D660}" dt="2026-09-26T15:34:48.597" v="3" actId="478"/>
          <ac:spMkLst>
            <pc:docMk/>
            <pc:sldMk cId="0" sldId="257"/>
            <ac:spMk id="9" creationId="{00000000-0000-0000-0000-000000000000}"/>
          </ac:spMkLst>
        </pc:spChg>
        <pc:spChg chg="mod">
          <ac:chgData name="Mahesh Kumar" userId="98d339e7a53905f6" providerId="LiveId" clId="{1BD50F9A-90CC-46DF-ABA8-FDB7F3C2D660}" dt="2026-09-26T15:59:40.452" v="57" actId="14100"/>
          <ac:spMkLst>
            <pc:docMk/>
            <pc:sldMk cId="0" sldId="257"/>
            <ac:spMk id="10" creationId="{00000000-0000-0000-0000-000000000000}"/>
          </ac:spMkLst>
        </pc:spChg>
        <pc:spChg chg="mod">
          <ac:chgData name="Mahesh Kumar" userId="98d339e7a53905f6" providerId="LiveId" clId="{1BD50F9A-90CC-46DF-ABA8-FDB7F3C2D660}" dt="2026-09-26T15:59:44.068" v="58" actId="403"/>
          <ac:spMkLst>
            <pc:docMk/>
            <pc:sldMk cId="0" sldId="257"/>
            <ac:spMk id="12" creationId="{00000000-0000-0000-0000-000000000000}"/>
          </ac:spMkLst>
        </pc:spChg>
        <pc:spChg chg="mod">
          <ac:chgData name="Mahesh Kumar" userId="98d339e7a53905f6" providerId="LiveId" clId="{1BD50F9A-90CC-46DF-ABA8-FDB7F3C2D660}" dt="2026-09-26T15:59:38.386" v="56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Mahesh Kumar" userId="98d339e7a53905f6" providerId="LiveId" clId="{1BD50F9A-90CC-46DF-ABA8-FDB7F3C2D660}" dt="2026-09-26T15:59:26.019" v="50" actId="21"/>
          <ac:spMkLst>
            <pc:docMk/>
            <pc:sldMk cId="0" sldId="257"/>
            <ac:spMk id="15" creationId="{00000000-0000-0000-0000-000000000000}"/>
          </ac:spMkLst>
        </pc:spChg>
        <pc:spChg chg="mod">
          <ac:chgData name="Mahesh Kumar" userId="98d339e7a53905f6" providerId="LiveId" clId="{1BD50F9A-90CC-46DF-ABA8-FDB7F3C2D660}" dt="2026-09-26T15:59:30.389" v="54" actId="20577"/>
          <ac:spMkLst>
            <pc:docMk/>
            <pc:sldMk cId="0" sldId="257"/>
            <ac:spMk id="16" creationId="{00000000-0000-0000-0000-000000000000}"/>
          </ac:spMkLst>
        </pc:spChg>
        <pc:spChg chg="mod">
          <ac:chgData name="Mahesh Kumar" userId="98d339e7a53905f6" providerId="LiveId" clId="{1BD50F9A-90CC-46DF-ABA8-FDB7F3C2D660}" dt="2026-09-26T15:58:08.895" v="45" actId="1076"/>
          <ac:spMkLst>
            <pc:docMk/>
            <pc:sldMk cId="0" sldId="257"/>
            <ac:spMk id="17" creationId="{00000000-0000-0000-0000-000000000000}"/>
          </ac:spMkLst>
        </pc:spChg>
      </pc:sldChg>
      <pc:sldChg chg="delSp modSp mod">
        <pc:chgData name="Mahesh Kumar" userId="98d339e7a53905f6" providerId="LiveId" clId="{1BD50F9A-90CC-46DF-ABA8-FDB7F3C2D660}" dt="2026-09-26T16:02:00.612" v="71" actId="478"/>
        <pc:sldMkLst>
          <pc:docMk/>
          <pc:sldMk cId="0" sldId="258"/>
        </pc:sldMkLst>
        <pc:spChg chg="mod">
          <ac:chgData name="Mahesh Kumar" userId="98d339e7a53905f6" providerId="LiveId" clId="{1BD50F9A-90CC-46DF-ABA8-FDB7F3C2D660}" dt="2026-09-26T16:01:26.888" v="65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Mahesh Kumar" userId="98d339e7a53905f6" providerId="LiveId" clId="{1BD50F9A-90CC-46DF-ABA8-FDB7F3C2D660}" dt="2026-09-26T16:01:20.210" v="62" actId="1076"/>
          <ac:spMkLst>
            <pc:docMk/>
            <pc:sldMk cId="0" sldId="258"/>
            <ac:spMk id="3" creationId="{00000000-0000-0000-0000-000000000000}"/>
          </ac:spMkLst>
        </pc:spChg>
        <pc:spChg chg="del">
          <ac:chgData name="Mahesh Kumar" userId="98d339e7a53905f6" providerId="LiveId" clId="{1BD50F9A-90CC-46DF-ABA8-FDB7F3C2D660}" dt="2026-09-26T16:01:12.778" v="60" actId="478"/>
          <ac:spMkLst>
            <pc:docMk/>
            <pc:sldMk cId="0" sldId="258"/>
            <ac:spMk id="4" creationId="{00000000-0000-0000-0000-000000000000}"/>
          </ac:spMkLst>
        </pc:spChg>
        <pc:spChg chg="del">
          <ac:chgData name="Mahesh Kumar" userId="98d339e7a53905f6" providerId="LiveId" clId="{1BD50F9A-90CC-46DF-ABA8-FDB7F3C2D660}" dt="2026-09-26T16:01:15.916" v="61" actId="478"/>
          <ac:spMkLst>
            <pc:docMk/>
            <pc:sldMk cId="0" sldId="258"/>
            <ac:spMk id="5" creationId="{00000000-0000-0000-0000-000000000000}"/>
          </ac:spMkLst>
        </pc:spChg>
        <pc:spChg chg="mod">
          <ac:chgData name="Mahesh Kumar" userId="98d339e7a53905f6" providerId="LiveId" clId="{1BD50F9A-90CC-46DF-ABA8-FDB7F3C2D660}" dt="2026-09-26T16:01:24.229" v="63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Mahesh Kumar" userId="98d339e7a53905f6" providerId="LiveId" clId="{1BD50F9A-90CC-46DF-ABA8-FDB7F3C2D660}" dt="2026-09-26T16:01:32.882" v="67" actId="113"/>
          <ac:spMkLst>
            <pc:docMk/>
            <pc:sldMk cId="0" sldId="258"/>
            <ac:spMk id="7" creationId="{00000000-0000-0000-0000-000000000000}"/>
          </ac:spMkLst>
        </pc:spChg>
        <pc:spChg chg="del">
          <ac:chgData name="Mahesh Kumar" userId="98d339e7a53905f6" providerId="LiveId" clId="{1BD50F9A-90CC-46DF-ABA8-FDB7F3C2D660}" dt="2026-09-26T16:01:40.707" v="68" actId="478"/>
          <ac:spMkLst>
            <pc:docMk/>
            <pc:sldMk cId="0" sldId="258"/>
            <ac:spMk id="8" creationId="{00000000-0000-0000-0000-000000000000}"/>
          </ac:spMkLst>
        </pc:spChg>
        <pc:spChg chg="del">
          <ac:chgData name="Mahesh Kumar" userId="98d339e7a53905f6" providerId="LiveId" clId="{1BD50F9A-90CC-46DF-ABA8-FDB7F3C2D660}" dt="2026-09-26T16:01:43.484" v="69" actId="478"/>
          <ac:spMkLst>
            <pc:docMk/>
            <pc:sldMk cId="0" sldId="258"/>
            <ac:spMk id="9" creationId="{00000000-0000-0000-0000-000000000000}"/>
          </ac:spMkLst>
        </pc:spChg>
        <pc:spChg chg="mod">
          <ac:chgData name="Mahesh Kumar" userId="98d339e7a53905f6" providerId="LiveId" clId="{1BD50F9A-90CC-46DF-ABA8-FDB7F3C2D660}" dt="2026-09-26T16:01:56.482" v="70" actId="6549"/>
          <ac:spMkLst>
            <pc:docMk/>
            <pc:sldMk cId="0" sldId="258"/>
            <ac:spMk id="11" creationId="{00000000-0000-0000-0000-000000000000}"/>
          </ac:spMkLst>
        </pc:spChg>
        <pc:spChg chg="del">
          <ac:chgData name="Mahesh Kumar" userId="98d339e7a53905f6" providerId="LiveId" clId="{1BD50F9A-90CC-46DF-ABA8-FDB7F3C2D660}" dt="2026-09-26T16:02:00.612" v="71" actId="478"/>
          <ac:spMkLst>
            <pc:docMk/>
            <pc:sldMk cId="0" sldId="258"/>
            <ac:spMk id="12" creationId="{00000000-0000-0000-0000-000000000000}"/>
          </ac:spMkLst>
        </pc:spChg>
      </pc:sldChg>
      <pc:sldChg chg="delSp modSp mod">
        <pc:chgData name="Mahesh Kumar" userId="98d339e7a53905f6" providerId="LiveId" clId="{1BD50F9A-90CC-46DF-ABA8-FDB7F3C2D660}" dt="2026-09-26T16:09:40.393" v="79" actId="1076"/>
        <pc:sldMkLst>
          <pc:docMk/>
          <pc:sldMk cId="0" sldId="259"/>
        </pc:sldMkLst>
        <pc:spChg chg="mod">
          <ac:chgData name="Mahesh Kumar" userId="98d339e7a53905f6" providerId="LiveId" clId="{1BD50F9A-90CC-46DF-ABA8-FDB7F3C2D660}" dt="2026-09-26T16:09:36.001" v="78" actId="1076"/>
          <ac:spMkLst>
            <pc:docMk/>
            <pc:sldMk cId="0" sldId="259"/>
            <ac:spMk id="3" creationId="{00000000-0000-0000-0000-000000000000}"/>
          </ac:spMkLst>
        </pc:spChg>
        <pc:spChg chg="del">
          <ac:chgData name="Mahesh Kumar" userId="98d339e7a53905f6" providerId="LiveId" clId="{1BD50F9A-90CC-46DF-ABA8-FDB7F3C2D660}" dt="2026-09-26T16:09:17.063" v="72" actId="478"/>
          <ac:spMkLst>
            <pc:docMk/>
            <pc:sldMk cId="0" sldId="259"/>
            <ac:spMk id="4" creationId="{00000000-0000-0000-0000-000000000000}"/>
          </ac:spMkLst>
        </pc:spChg>
        <pc:spChg chg="del">
          <ac:chgData name="Mahesh Kumar" userId="98d339e7a53905f6" providerId="LiveId" clId="{1BD50F9A-90CC-46DF-ABA8-FDB7F3C2D660}" dt="2026-09-26T16:09:19.886" v="73" actId="478"/>
          <ac:spMkLst>
            <pc:docMk/>
            <pc:sldMk cId="0" sldId="259"/>
            <ac:spMk id="5" creationId="{00000000-0000-0000-0000-000000000000}"/>
          </ac:spMkLst>
        </pc:spChg>
        <pc:spChg chg="mod">
          <ac:chgData name="Mahesh Kumar" userId="98d339e7a53905f6" providerId="LiveId" clId="{1BD50F9A-90CC-46DF-ABA8-FDB7F3C2D660}" dt="2026-09-26T16:09:27.966" v="75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Mahesh Kumar" userId="98d339e7a53905f6" providerId="LiveId" clId="{1BD50F9A-90CC-46DF-ABA8-FDB7F3C2D660}" dt="2026-09-26T16:09:40.393" v="79" actId="1076"/>
          <ac:spMkLst>
            <pc:docMk/>
            <pc:sldMk cId="0" sldId="259"/>
            <ac:spMk id="7" creationId="{00000000-0000-0000-0000-000000000000}"/>
          </ac:spMkLst>
        </pc:spChg>
      </pc:sldChg>
      <pc:sldChg chg="delSp modSp mod">
        <pc:chgData name="Mahesh Kumar" userId="98d339e7a53905f6" providerId="LiveId" clId="{1BD50F9A-90CC-46DF-ABA8-FDB7F3C2D660}" dt="2026-09-26T16:10:38.417" v="90" actId="1076"/>
        <pc:sldMkLst>
          <pc:docMk/>
          <pc:sldMk cId="0" sldId="260"/>
        </pc:sldMkLst>
        <pc:spChg chg="mod">
          <ac:chgData name="Mahesh Kumar" userId="98d339e7a53905f6" providerId="LiveId" clId="{1BD50F9A-90CC-46DF-ABA8-FDB7F3C2D660}" dt="2026-09-26T16:10:22.544" v="85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Mahesh Kumar" userId="98d339e7a53905f6" providerId="LiveId" clId="{1BD50F9A-90CC-46DF-ABA8-FDB7F3C2D660}" dt="2026-09-26T16:10:25.321" v="86" actId="1076"/>
          <ac:spMkLst>
            <pc:docMk/>
            <pc:sldMk cId="0" sldId="260"/>
            <ac:spMk id="3" creationId="{00000000-0000-0000-0000-000000000000}"/>
          </ac:spMkLst>
        </pc:spChg>
        <pc:spChg chg="del">
          <ac:chgData name="Mahesh Kumar" userId="98d339e7a53905f6" providerId="LiveId" clId="{1BD50F9A-90CC-46DF-ABA8-FDB7F3C2D660}" dt="2026-09-26T16:10:16.091" v="82" actId="478"/>
          <ac:spMkLst>
            <pc:docMk/>
            <pc:sldMk cId="0" sldId="260"/>
            <ac:spMk id="4" creationId="{00000000-0000-0000-0000-000000000000}"/>
          </ac:spMkLst>
        </pc:spChg>
        <pc:spChg chg="del">
          <ac:chgData name="Mahesh Kumar" userId="98d339e7a53905f6" providerId="LiveId" clId="{1BD50F9A-90CC-46DF-ABA8-FDB7F3C2D660}" dt="2026-09-26T16:10:19.009" v="83" actId="478"/>
          <ac:spMkLst>
            <pc:docMk/>
            <pc:sldMk cId="0" sldId="260"/>
            <ac:spMk id="5" creationId="{00000000-0000-0000-0000-000000000000}"/>
          </ac:spMkLst>
        </pc:spChg>
        <pc:spChg chg="mod">
          <ac:chgData name="Mahesh Kumar" userId="98d339e7a53905f6" providerId="LiveId" clId="{1BD50F9A-90CC-46DF-ABA8-FDB7F3C2D660}" dt="2026-09-26T16:10:28.381" v="87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Mahesh Kumar" userId="98d339e7a53905f6" providerId="LiveId" clId="{1BD50F9A-90CC-46DF-ABA8-FDB7F3C2D660}" dt="2026-09-26T16:10:33.221" v="89" actId="113"/>
          <ac:spMkLst>
            <pc:docMk/>
            <pc:sldMk cId="0" sldId="260"/>
            <ac:spMk id="7" creationId="{00000000-0000-0000-0000-000000000000}"/>
          </ac:spMkLst>
        </pc:spChg>
        <pc:spChg chg="del">
          <ac:chgData name="Mahesh Kumar" userId="98d339e7a53905f6" providerId="LiveId" clId="{1BD50F9A-90CC-46DF-ABA8-FDB7F3C2D660}" dt="2026-09-26T16:10:08.236" v="80" actId="478"/>
          <ac:spMkLst>
            <pc:docMk/>
            <pc:sldMk cId="0" sldId="260"/>
            <ac:spMk id="8" creationId="{00000000-0000-0000-0000-000000000000}"/>
          </ac:spMkLst>
        </pc:spChg>
        <pc:spChg chg="del">
          <ac:chgData name="Mahesh Kumar" userId="98d339e7a53905f6" providerId="LiveId" clId="{1BD50F9A-90CC-46DF-ABA8-FDB7F3C2D660}" dt="2026-09-26T16:10:11.578" v="81" actId="478"/>
          <ac:spMkLst>
            <pc:docMk/>
            <pc:sldMk cId="0" sldId="260"/>
            <ac:spMk id="9" creationId="{00000000-0000-0000-0000-000000000000}"/>
          </ac:spMkLst>
        </pc:spChg>
        <pc:spChg chg="mod">
          <ac:chgData name="Mahesh Kumar" userId="98d339e7a53905f6" providerId="LiveId" clId="{1BD50F9A-90CC-46DF-ABA8-FDB7F3C2D660}" dt="2026-09-26T16:10:38.417" v="90" actId="1076"/>
          <ac:spMkLst>
            <pc:docMk/>
            <pc:sldMk cId="0" sldId="260"/>
            <ac:spMk id="10" creationId="{00000000-0000-0000-0000-000000000000}"/>
          </ac:spMkLst>
        </pc:spChg>
      </pc:sldChg>
      <pc:sldChg chg="delSp modSp mod">
        <pc:chgData name="Mahesh Kumar" userId="98d339e7a53905f6" providerId="LiveId" clId="{1BD50F9A-90CC-46DF-ABA8-FDB7F3C2D660}" dt="2026-09-26T16:11:10.610" v="98" actId="478"/>
        <pc:sldMkLst>
          <pc:docMk/>
          <pc:sldMk cId="0" sldId="261"/>
        </pc:sldMkLst>
        <pc:spChg chg="mod">
          <ac:chgData name="Mahesh Kumar" userId="98d339e7a53905f6" providerId="LiveId" clId="{1BD50F9A-90CC-46DF-ABA8-FDB7F3C2D660}" dt="2026-09-26T16:10:52.969" v="93" actId="1076"/>
          <ac:spMkLst>
            <pc:docMk/>
            <pc:sldMk cId="0" sldId="261"/>
            <ac:spMk id="3" creationId="{00000000-0000-0000-0000-000000000000}"/>
          </ac:spMkLst>
        </pc:spChg>
        <pc:spChg chg="del">
          <ac:chgData name="Mahesh Kumar" userId="98d339e7a53905f6" providerId="LiveId" clId="{1BD50F9A-90CC-46DF-ABA8-FDB7F3C2D660}" dt="2026-09-26T16:10:47.099" v="91" actId="478"/>
          <ac:spMkLst>
            <pc:docMk/>
            <pc:sldMk cId="0" sldId="261"/>
            <ac:spMk id="4" creationId="{00000000-0000-0000-0000-000000000000}"/>
          </ac:spMkLst>
        </pc:spChg>
        <pc:spChg chg="del">
          <ac:chgData name="Mahesh Kumar" userId="98d339e7a53905f6" providerId="LiveId" clId="{1BD50F9A-90CC-46DF-ABA8-FDB7F3C2D660}" dt="2026-09-26T16:10:49.623" v="92" actId="478"/>
          <ac:spMkLst>
            <pc:docMk/>
            <pc:sldMk cId="0" sldId="261"/>
            <ac:spMk id="5" creationId="{00000000-0000-0000-0000-000000000000}"/>
          </ac:spMkLst>
        </pc:spChg>
        <pc:spChg chg="mod">
          <ac:chgData name="Mahesh Kumar" userId="98d339e7a53905f6" providerId="LiveId" clId="{1BD50F9A-90CC-46DF-ABA8-FDB7F3C2D660}" dt="2026-09-26T16:10:57.663" v="94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Mahesh Kumar" userId="98d339e7a53905f6" providerId="LiveId" clId="{1BD50F9A-90CC-46DF-ABA8-FDB7F3C2D660}" dt="2026-09-26T16:11:03.880" v="97" actId="403"/>
          <ac:spMkLst>
            <pc:docMk/>
            <pc:sldMk cId="0" sldId="261"/>
            <ac:spMk id="7" creationId="{00000000-0000-0000-0000-000000000000}"/>
          </ac:spMkLst>
        </pc:spChg>
        <pc:spChg chg="del">
          <ac:chgData name="Mahesh Kumar" userId="98d339e7a53905f6" providerId="LiveId" clId="{1BD50F9A-90CC-46DF-ABA8-FDB7F3C2D660}" dt="2026-09-26T16:11:10.610" v="98" actId="478"/>
          <ac:spMkLst>
            <pc:docMk/>
            <pc:sldMk cId="0" sldId="261"/>
            <ac:spMk id="8" creationId="{00000000-0000-0000-0000-000000000000}"/>
          </ac:spMkLst>
        </pc:spChg>
      </pc:sldChg>
      <pc:sldChg chg="del">
        <pc:chgData name="Mahesh Kumar" userId="98d339e7a53905f6" providerId="LiveId" clId="{1BD50F9A-90CC-46DF-ABA8-FDB7F3C2D660}" dt="2026-09-26T16:00:26.956" v="59" actId="47"/>
        <pc:sldMkLst>
          <pc:docMk/>
          <pc:sldMk cId="0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AAAB8-E205-4DA2-8EFE-62C9C22E4468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6ECE84-9F10-4ED6-9AF7-B2E057E63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704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ECE84-9F10-4ED6-9AF7-B2E057E634D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6715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329184"/>
            <a:ext cx="11045952" cy="2286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18085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B5651D"/>
                </a:solidFill>
                <a:latin typeface="Calibri"/>
              </a:rPr>
              <a:t>SLIDE 01 · PROBLEM STATEMENT &amp; BUSINESS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02336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8595AC"/>
                </a:solidFill>
                <a:latin typeface="Calibri"/>
              </a:rPr>
              <a:t>EXL AI SERVICES · CAPSTONE (03 BANKING)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459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 dirty="0">
                <a:solidFill>
                  <a:srgbClr val="0E1E38"/>
                </a:solidFill>
                <a:latin typeface="Cambria"/>
              </a:rPr>
              <a:t>Loan Eligibility Assistant — 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11045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>
                <a:solidFill>
                  <a:srgbClr val="5B6B85"/>
                </a:solidFill>
                <a:latin typeface="Calibri"/>
              </a:rPr>
              <a:t>Pre-qualification conversations consume staff time and produce inconsistent answers across changing policy rules.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92240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8595AC"/>
                </a:solidFill>
                <a:latin typeface="Calibri"/>
              </a:rPr>
              <a:t>01 / 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44752"/>
            <a:ext cx="5897880" cy="278892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3A6B"/>
                </a:solidFill>
                <a:latin typeface="Calibri"/>
              </a:rPr>
              <a:t>THE BUSINESS PAIN &amp; DUAL COST EXPOSURE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10512"/>
            <a:ext cx="5577840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960" b="1">
                <a:solidFill>
                  <a:srgbClr val="0E1E38"/>
                </a:solidFill>
                <a:latin typeface="Calibri"/>
              </a:rPr>
              <a:t>• Fragmented, Versioned Rules</a:t>
            </a:r>
            <a:r>
              <a:rPr sz="960" b="0">
                <a:solidFill>
                  <a:srgbClr val="334155"/>
                </a:solidFill>
                <a:latin typeface="Calibri"/>
              </a:rPr>
              <a:t> — Eligibility depends on 25+ interacting rules (age, income, vintage, CIBIL, FOIR, LTV, tenure) across Personal, Home, and Auto loans that change on independent cycles.</a:t>
            </a:r>
          </a:p>
          <a:p>
            <a:pPr algn="l">
              <a:spcAft>
                <a:spcPts val="450"/>
              </a:spcAft>
            </a:pPr>
            <a:r>
              <a:rPr sz="960" b="1">
                <a:solidFill>
                  <a:srgbClr val="0E1E38"/>
                </a:solidFill>
                <a:latin typeface="Calibri"/>
              </a:rPr>
              <a:t>• False Positives = Customer Complaints</a:t>
            </a:r>
            <a:r>
              <a:rPr sz="960" b="0">
                <a:solidFill>
                  <a:srgbClr val="334155"/>
                </a:solidFill>
                <a:latin typeface="Calibri"/>
              </a:rPr>
              <a:t> — Telling an applicant they qualify when they do not causes formal complaints, compliance escalation, and wasted underwriting cost.</a:t>
            </a:r>
          </a:p>
          <a:p>
            <a:pPr algn="l">
              <a:spcAft>
                <a:spcPts val="450"/>
              </a:spcAft>
            </a:pPr>
            <a:r>
              <a:rPr sz="960" b="1">
                <a:solidFill>
                  <a:srgbClr val="0E1E38"/>
                </a:solidFill>
                <a:latin typeface="Calibri"/>
              </a:rPr>
              <a:t>• False Negatives = Lost Lending Revenue</a:t>
            </a:r>
            <a:r>
              <a:rPr sz="960" b="0">
                <a:solidFill>
                  <a:srgbClr val="334155"/>
                </a:solidFill>
                <a:latin typeface="Calibri"/>
              </a:rPr>
              <a:t> — Telling an eligible borrower they do not qualify sends good business to competitors — invisible until after the fact.</a:t>
            </a:r>
          </a:p>
          <a:p>
            <a:pPr algn="l">
              <a:spcAft>
                <a:spcPts val="450"/>
              </a:spcAft>
            </a:pPr>
            <a:r>
              <a:rPr sz="960" b="1">
                <a:solidFill>
                  <a:srgbClr val="0E1E38"/>
                </a:solidFill>
                <a:latin typeface="Calibri"/>
              </a:rPr>
              <a:t>• Customers Speak Intent, Not Product Codes</a:t>
            </a:r>
            <a:r>
              <a:rPr sz="960" b="0">
                <a:solidFill>
                  <a:srgbClr val="334155"/>
                </a:solidFill>
                <a:latin typeface="Calibri"/>
              </a:rPr>
              <a:t> — Users ask for a 'house loan', 'building loan', 'new car loan', or 'scooter loan' — keyword search and static FAQs fail to resolve multi-factor eligibility.</a:t>
            </a:r>
          </a:p>
          <a:p>
            <a:pPr algn="l">
              <a:spcAft>
                <a:spcPts val="450"/>
              </a:spcAft>
            </a:pPr>
            <a:r>
              <a:rPr sz="960" b="1">
                <a:solidFill>
                  <a:srgbClr val="0E1E38"/>
                </a:solidFill>
                <a:latin typeface="Calibri"/>
              </a:rPr>
              <a:t>• Why Generic LLMs Fail Alone</a:t>
            </a:r>
            <a:r>
              <a:rPr sz="960" b="0">
                <a:solidFill>
                  <a:srgbClr val="334155"/>
                </a:solidFill>
                <a:latin typeface="Calibri"/>
              </a:rPr>
              <a:t> — Standard LLMs hallucinate policy thresholds, miscalculate reducing-balance EMI / FOIR / LTV math, and mix up retired vs. active policy versions.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1444752"/>
            <a:ext cx="4983480" cy="1481328"/>
          </a:xfrm>
          <a:prstGeom prst="roundRect">
            <a:avLst>
              <a:gd name="adj" fmla="val 6000"/>
            </a:avLst>
          </a:prstGeom>
          <a:solidFill>
            <a:srgbClr val="FBF1E6"/>
          </a:solidFill>
          <a:ln w="12700">
            <a:solidFill>
              <a:srgbClr val="E7C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554480"/>
            <a:ext cx="4663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B5651D"/>
                </a:solidFill>
                <a:latin typeface="Calibri"/>
              </a:rPr>
              <a:t>PROBLEM STATEMENT &amp; SOLUTION MANDATE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3992" y="1783080"/>
            <a:ext cx="466344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5E3A14"/>
                </a:solidFill>
                <a:latin typeface="Calibri"/>
              </a:rPr>
              <a:t>Build a streaming conversational GenAI pre-qualification assistant over FastAPI with versioned RAG retrieval, deterministic Python financial calculators &amp; rules engine, verified Rule-ID citations, Promptfoo CI/CD evaluation gates that block regressions on push/PR, and immutable rule-version audit logging.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3035808"/>
            <a:ext cx="4983480" cy="1197864"/>
          </a:xfrm>
          <a:prstGeom prst="roundRect">
            <a:avLst>
              <a:gd name="adj" fmla="val 6000"/>
            </a:avLst>
          </a:prstGeom>
          <a:solidFill>
            <a:srgbClr val="FAEDE9"/>
          </a:solidFill>
          <a:ln w="12700">
            <a:solidFill>
              <a:srgbClr val="E8C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93992" y="3145536"/>
            <a:ext cx="4663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93321F"/>
                </a:solidFill>
                <a:latin typeface="Calibri"/>
              </a:rPr>
              <a:t>COMPLIANCE BOUNDARY — EXPLICITLY NOT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3992" y="3364992"/>
            <a:ext cx="466344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E2417"/>
                </a:solidFill>
                <a:latin typeface="Calibri"/>
              </a:rPr>
              <a:t>Never a final loan approval, sanction letter, or credit underwriting engine. Output is strictly pre-qualification guidance (POTENTIALLY_ELIGIBLE, NOT_ELIGIBLE, MANUAL_REVIEW, INSUFFICIENT_INFORMATION) with guarantee-language blocked by output guardrails.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370832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8595AC"/>
                </a:solidFill>
                <a:latin typeface="Calibri"/>
              </a:rPr>
              <a:t>WHERE THE GAP APPEARS — FROM USER INTENT TO AUDITED DECISION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08576"/>
            <a:ext cx="2523744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944" y="4718304"/>
            <a:ext cx="226771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1" i="0">
                <a:solidFill>
                  <a:srgbClr val="1B3A6B"/>
                </a:solidFill>
                <a:latin typeface="Calibri"/>
              </a:rPr>
              <a:t>1. Natural Customer Chat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4956048"/>
            <a:ext cx="2267711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“Can I get a house loan for an ₹80L flat, or a scooter loan?”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27248" y="4983480"/>
            <a:ext cx="237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8595AC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01568" y="4608576"/>
            <a:ext cx="2523744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29584" y="4718304"/>
            <a:ext cx="226771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1" i="0">
                <a:solidFill>
                  <a:srgbClr val="1B3A6B"/>
                </a:solidFill>
                <a:latin typeface="Calibri"/>
              </a:rPr>
              <a:t>2. Multi-Policy Complexity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9584" y="4956048"/>
            <a:ext cx="2267711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3 products · v1/v2 versions · 40 clauses · FOIR, LTV &amp; EMI math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61888" y="4983480"/>
            <a:ext cx="237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8595AC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6207" y="4608576"/>
            <a:ext cx="2523744" cy="1115568"/>
          </a:xfrm>
          <a:prstGeom prst="roundRect">
            <a:avLst>
              <a:gd name="adj" fmla="val 8000"/>
            </a:avLst>
          </a:prstGeom>
          <a:solidFill>
            <a:srgbClr val="FAEDE9"/>
          </a:solidFill>
          <a:ln w="12700">
            <a:solidFill>
              <a:srgbClr val="E8C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64223" y="4718304"/>
            <a:ext cx="226771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1" i="0">
                <a:solidFill>
                  <a:srgbClr val="93321F"/>
                </a:solidFill>
                <a:latin typeface="Calibri"/>
              </a:rPr>
              <a:t>3. Generic LLM 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4223" y="4956048"/>
            <a:ext cx="2267711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Invents CIBIL cutoffs, botches EMI math, cites non-existent rules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96527" y="4983480"/>
            <a:ext cx="237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8595AC"/>
                </a:solidFill>
                <a:latin typeface="Calibri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70847" y="4608576"/>
            <a:ext cx="2523744" cy="1115568"/>
          </a:xfrm>
          <a:prstGeom prst="roundRect">
            <a:avLst>
              <a:gd name="adj" fmla="val 8000"/>
            </a:avLst>
          </a:prstGeom>
          <a:solidFill>
            <a:srgbClr val="EAF4EE"/>
          </a:solidFill>
          <a:ln w="12700">
            <a:solidFill>
              <a:srgbClr val="C6D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98863" y="4718304"/>
            <a:ext cx="226771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1" i="0">
                <a:solidFill>
                  <a:srgbClr val="1F6F43"/>
                </a:solidFill>
                <a:latin typeface="Calibri"/>
              </a:rPr>
              <a:t>4. LoanAssist v3 Engine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8863" y="4956048"/>
            <a:ext cx="2267711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dirty="0">
                <a:solidFill>
                  <a:srgbClr val="334155"/>
                </a:solidFill>
                <a:latin typeface="Calibri"/>
              </a:rPr>
              <a:t>Semantic routing + Python rules/math + RAG citations + audit log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5888736"/>
            <a:ext cx="11045952" cy="512064"/>
          </a:xfrm>
          <a:prstGeom prst="roundRect">
            <a:avLst>
              <a:gd name="adj" fmla="val 12000"/>
            </a:avLst>
          </a:prstGeom>
          <a:solidFill>
            <a:srgbClr val="0E1E38"/>
          </a:solidFill>
          <a:ln w="12700">
            <a:solidFill>
              <a:srgbClr val="0E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94944" y="5998464"/>
            <a:ext cx="1417320" cy="292608"/>
          </a:xfrm>
          <a:prstGeom prst="roundRect">
            <a:avLst>
              <a:gd name="adj" fmla="val 20000"/>
            </a:avLst>
          </a:prstGeom>
          <a:solidFill>
            <a:srgbClr val="B5651D"/>
          </a:solidFill>
          <a:ln w="12700">
            <a:solidFill>
              <a:srgbClr val="B56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4944" y="5998464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80" b="1" i="0">
                <a:solidFill>
                  <a:srgbClr val="FFFFFF"/>
                </a:solidFill>
                <a:latin typeface="Calibri"/>
              </a:rPr>
              <a:t>CORE THESIS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9424" y="5961888"/>
            <a:ext cx="92171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mbria"/>
              </a:rPr>
              <a:t>Separate natural-language fluency from deterministic policy execution: LLM extracts &amp; explains; Python computes &amp; decides.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9144"/>
            <a:ext cx="12191999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20624" y="613410"/>
            <a:ext cx="11045952" cy="2286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01346"/>
            <a:ext cx="110459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 dirty="0">
                <a:solidFill>
                  <a:srgbClr val="0E1E38"/>
                </a:solidFill>
                <a:latin typeface="Cambria"/>
              </a:rPr>
              <a:t>Scope, Solution &amp; 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814578"/>
            <a:ext cx="1104595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5B6B85"/>
                </a:solidFill>
                <a:latin typeface="Calibri"/>
              </a:rPr>
              <a:t>What Loan</a:t>
            </a:r>
            <a:r>
              <a:rPr lang="en-IN" sz="1400" b="1" i="0" dirty="0">
                <a:solidFill>
                  <a:srgbClr val="5B6B85"/>
                </a:solidFill>
                <a:latin typeface="Calibri"/>
              </a:rPr>
              <a:t> </a:t>
            </a:r>
            <a:r>
              <a:rPr sz="1400" b="1" i="0" dirty="0">
                <a:solidFill>
                  <a:srgbClr val="5B6B85"/>
                </a:solidFill>
                <a:latin typeface="Calibri"/>
              </a:rPr>
              <a:t>Assist</a:t>
            </a:r>
            <a:r>
              <a:rPr lang="en-IN" sz="1400" b="1" i="0" dirty="0">
                <a:solidFill>
                  <a:srgbClr val="5B6B85"/>
                </a:solidFill>
                <a:latin typeface="Calibri"/>
              </a:rPr>
              <a:t>ant</a:t>
            </a:r>
            <a:r>
              <a:rPr sz="1400" b="1" i="0" dirty="0">
                <a:solidFill>
                  <a:srgbClr val="5B6B85"/>
                </a:solidFill>
                <a:latin typeface="Calibri"/>
              </a:rPr>
              <a:t> implements end-to-end, what it deliberately excludes, and the 7-stage request path.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44752"/>
            <a:ext cx="6537960" cy="3095244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6217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IN SCOPE — IMPLEMENTED END-TO-END IN LOANASSIST V3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10512"/>
            <a:ext cx="6217920" cy="24622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1000" b="1" dirty="0">
                <a:solidFill>
                  <a:srgbClr val="0E1E38"/>
                </a:solidFill>
                <a:latin typeface="Calibri"/>
              </a:rPr>
              <a:t>• 3 Loan Products with Versioned Policy RAG</a:t>
            </a:r>
            <a:r>
              <a:rPr sz="1000" b="0" dirty="0">
                <a:solidFill>
                  <a:srgbClr val="334155"/>
                </a:solidFill>
                <a:latin typeface="Calibri"/>
              </a:rPr>
              <a:t> — Personal Loan (v1/v2), Home Loan (v1/v2), and Auto Loan (v1: 2-Wheeler, 4-Wheeler, Commercial, EV) in isolated </a:t>
            </a:r>
            <a:r>
              <a:rPr sz="1000" b="0" dirty="0" err="1">
                <a:solidFill>
                  <a:srgbClr val="334155"/>
                </a:solidFill>
                <a:latin typeface="Calibri"/>
              </a:rPr>
              <a:t>ChromaDB</a:t>
            </a:r>
            <a:r>
              <a:rPr sz="1000" b="0" dirty="0">
                <a:solidFill>
                  <a:srgbClr val="334155"/>
                </a:solidFill>
                <a:latin typeface="Calibri"/>
              </a:rPr>
              <a:t> collections.</a:t>
            </a:r>
          </a:p>
          <a:p>
            <a:pPr algn="l">
              <a:spcAft>
                <a:spcPts val="350"/>
              </a:spcAft>
            </a:pPr>
            <a:r>
              <a:rPr sz="1000" b="1" dirty="0">
                <a:solidFill>
                  <a:srgbClr val="0E1E38"/>
                </a:solidFill>
                <a:latin typeface="Calibri"/>
              </a:rPr>
              <a:t>• Zero-Tag Semantic Loan Detection</a:t>
            </a:r>
            <a:r>
              <a:rPr sz="1000" b="0" dirty="0">
                <a:solidFill>
                  <a:srgbClr val="334155"/>
                </a:solidFill>
                <a:latin typeface="Calibri"/>
              </a:rPr>
              <a:t> — No UI dropdowns required — understands 'house/building/flat loan' → </a:t>
            </a:r>
            <a:r>
              <a:rPr sz="1000" b="0" dirty="0" err="1">
                <a:solidFill>
                  <a:srgbClr val="334155"/>
                </a:solidFill>
                <a:latin typeface="Calibri"/>
              </a:rPr>
              <a:t>home_loan</a:t>
            </a:r>
            <a:r>
              <a:rPr sz="1000" b="0" dirty="0">
                <a:solidFill>
                  <a:srgbClr val="334155"/>
                </a:solidFill>
                <a:latin typeface="Calibri"/>
              </a:rPr>
              <a:t> and 'car/scooter/bike/bus/EV loan' → </a:t>
            </a:r>
            <a:r>
              <a:rPr sz="1000" b="0" dirty="0" err="1">
                <a:solidFill>
                  <a:srgbClr val="334155"/>
                </a:solidFill>
                <a:latin typeface="Calibri"/>
              </a:rPr>
              <a:t>auto_loan</a:t>
            </a:r>
            <a:r>
              <a:rPr sz="1000" b="0" dirty="0">
                <a:solidFill>
                  <a:srgbClr val="334155"/>
                </a:solidFill>
                <a:latin typeface="Calibri"/>
              </a:rPr>
              <a:t> via LLM + 30+ alias map.</a:t>
            </a:r>
          </a:p>
          <a:p>
            <a:pPr algn="l">
              <a:spcAft>
                <a:spcPts val="350"/>
              </a:spcAft>
            </a:pPr>
            <a:r>
              <a:rPr sz="1000" b="1" dirty="0">
                <a:solidFill>
                  <a:srgbClr val="0E1E38"/>
                </a:solidFill>
                <a:latin typeface="Calibri"/>
              </a:rPr>
              <a:t>• Multi-Turn Conversational Profile Merge</a:t>
            </a:r>
            <a:r>
              <a:rPr sz="1000" b="0" dirty="0">
                <a:solidFill>
                  <a:srgbClr val="334155"/>
                </a:solidFill>
                <a:latin typeface="Calibri"/>
              </a:rPr>
              <a:t> — Extracts 18 structured fields (temp=0) and merges with prior turns (_</a:t>
            </a:r>
            <a:r>
              <a:rPr sz="1000" b="0" dirty="0" err="1">
                <a:solidFill>
                  <a:srgbClr val="334155"/>
                </a:solidFill>
                <a:latin typeface="Calibri"/>
              </a:rPr>
              <a:t>merge_profiles</a:t>
            </a:r>
            <a:r>
              <a:rPr sz="1000" b="0" dirty="0">
                <a:solidFill>
                  <a:srgbClr val="334155"/>
                </a:solidFill>
                <a:latin typeface="Calibri"/>
              </a:rPr>
              <a:t>) so the assistant never re-asks known applicant details.</a:t>
            </a:r>
          </a:p>
          <a:p>
            <a:pPr algn="l">
              <a:spcAft>
                <a:spcPts val="350"/>
              </a:spcAft>
            </a:pPr>
            <a:r>
              <a:rPr sz="1000" b="1" dirty="0">
                <a:solidFill>
                  <a:srgbClr val="0E1E38"/>
                </a:solidFill>
                <a:latin typeface="Calibri"/>
              </a:rPr>
              <a:t>• Deterministic Python Calculators &amp; Rules Engine</a:t>
            </a:r>
            <a:r>
              <a:rPr sz="1000" b="0" dirty="0">
                <a:solidFill>
                  <a:srgbClr val="334155"/>
                </a:solidFill>
                <a:latin typeface="Calibri"/>
              </a:rPr>
              <a:t> — Pure-Python reducing-balance EMI, FOIR, LTV (property value &amp; on-road price), Max Affordable Loan + 25 rule evaluators (PL-*, HL-*, AL-*).</a:t>
            </a:r>
          </a:p>
          <a:p>
            <a:pPr algn="l">
              <a:spcAft>
                <a:spcPts val="350"/>
              </a:spcAft>
            </a:pPr>
            <a:r>
              <a:rPr sz="1000" b="1" dirty="0">
                <a:solidFill>
                  <a:srgbClr val="0E1E38"/>
                </a:solidFill>
                <a:latin typeface="Calibri"/>
              </a:rPr>
              <a:t>• On-Demand Document Checklists &amp; What-If Simulator</a:t>
            </a:r>
            <a:r>
              <a:rPr sz="1000" b="0" dirty="0">
                <a:solidFill>
                  <a:srgbClr val="334155"/>
                </a:solidFill>
                <a:latin typeface="Calibri"/>
              </a:rPr>
              <a:t> — Document checklists appear only when the user asks for documents; /scenario endpoint simulates alternate amount, tenure, or down payment.</a:t>
            </a:r>
          </a:p>
          <a:p>
            <a:pPr algn="l">
              <a:spcAft>
                <a:spcPts val="350"/>
              </a:spcAft>
            </a:pPr>
            <a:r>
              <a:rPr sz="1000" b="1" dirty="0">
                <a:solidFill>
                  <a:srgbClr val="0E1E38"/>
                </a:solidFill>
                <a:latin typeface="Calibri"/>
              </a:rPr>
              <a:t>• SSE Streaming with Backpressure &amp; 3-Layer Guardrails</a:t>
            </a:r>
            <a:r>
              <a:rPr sz="1000" b="0" dirty="0">
                <a:solidFill>
                  <a:srgbClr val="334155"/>
                </a:solidFill>
                <a:latin typeface="Calibri"/>
              </a:rPr>
              <a:t> — </a:t>
            </a:r>
            <a:r>
              <a:rPr sz="1000" b="0" dirty="0" err="1">
                <a:solidFill>
                  <a:srgbClr val="334155"/>
                </a:solidFill>
                <a:latin typeface="Calibri"/>
              </a:rPr>
              <a:t>asyncio.Queue</a:t>
            </a:r>
            <a:r>
              <a:rPr sz="1000" b="0" dirty="0">
                <a:solidFill>
                  <a:srgbClr val="334155"/>
                </a:solidFill>
                <a:latin typeface="Calibri"/>
              </a:rPr>
              <a:t>(</a:t>
            </a:r>
            <a:r>
              <a:rPr sz="1000" b="0" dirty="0" err="1">
                <a:solidFill>
                  <a:srgbClr val="334155"/>
                </a:solidFill>
                <a:latin typeface="Calibri"/>
              </a:rPr>
              <a:t>maxsize</a:t>
            </a:r>
            <a:r>
              <a:rPr sz="1000" b="0" dirty="0">
                <a:solidFill>
                  <a:srgbClr val="334155"/>
                </a:solidFill>
                <a:latin typeface="Calibri"/>
              </a:rPr>
              <a:t>=20) token stream, sentence-boundary output checking, PII redaction, and verified Rule-ID citations.</a:t>
            </a:r>
          </a:p>
          <a:p>
            <a:pPr algn="l">
              <a:spcAft>
                <a:spcPts val="350"/>
              </a:spcAft>
            </a:pPr>
            <a:r>
              <a:rPr sz="1000" b="1" dirty="0">
                <a:solidFill>
                  <a:srgbClr val="0E1E38"/>
                </a:solidFill>
                <a:latin typeface="Calibri"/>
              </a:rPr>
              <a:t>• Observability, Audit Trail &amp; CI/CD Eval Gates</a:t>
            </a:r>
            <a:r>
              <a:rPr sz="1000" b="0" dirty="0">
                <a:solidFill>
                  <a:srgbClr val="334155"/>
                </a:solidFill>
                <a:latin typeface="Calibri"/>
              </a:rPr>
              <a:t> — Version-captured JSONL audit log, Prometheus/Grafana/</a:t>
            </a:r>
            <a:r>
              <a:rPr sz="1000" b="0" dirty="0" err="1">
                <a:solidFill>
                  <a:srgbClr val="334155"/>
                </a:solidFill>
                <a:latin typeface="Calibri"/>
              </a:rPr>
              <a:t>Langfuse</a:t>
            </a:r>
            <a:r>
              <a:rPr sz="1000" b="0" dirty="0">
                <a:solidFill>
                  <a:srgbClr val="334155"/>
                </a:solidFill>
                <a:latin typeface="Calibri"/>
              </a:rPr>
              <a:t> telemetry, 80 </a:t>
            </a:r>
            <a:r>
              <a:rPr sz="1000" b="0" dirty="0" err="1">
                <a:solidFill>
                  <a:srgbClr val="334155"/>
                </a:solidFill>
                <a:latin typeface="Calibri"/>
              </a:rPr>
              <a:t>pytest</a:t>
            </a:r>
            <a:r>
              <a:rPr sz="1000" b="0" dirty="0">
                <a:solidFill>
                  <a:srgbClr val="334155"/>
                </a:solidFill>
                <a:latin typeface="Calibri"/>
              </a:rPr>
              <a:t> unit tests + 15 </a:t>
            </a:r>
            <a:r>
              <a:rPr sz="1000" b="0" dirty="0" err="1">
                <a:solidFill>
                  <a:srgbClr val="334155"/>
                </a:solidFill>
                <a:latin typeface="Calibri"/>
              </a:rPr>
              <a:t>Promptfoo</a:t>
            </a:r>
            <a:r>
              <a:rPr sz="1000" b="0" dirty="0">
                <a:solidFill>
                  <a:srgbClr val="334155"/>
                </a:solidFill>
                <a:latin typeface="Calibri"/>
              </a:rPr>
              <a:t> gates in GitHub Actions.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4732020"/>
            <a:ext cx="6537960" cy="1014984"/>
          </a:xfrm>
          <a:prstGeom prst="roundRect">
            <a:avLst>
              <a:gd name="adj" fmla="val 4000"/>
            </a:avLst>
          </a:prstGeom>
          <a:solidFill>
            <a:srgbClr val="FAEDE9"/>
          </a:solidFill>
          <a:ln w="12700">
            <a:solidFill>
              <a:srgbClr val="E8C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681728"/>
            <a:ext cx="6217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93321F"/>
                </a:solidFill>
                <a:latin typeface="Calibri"/>
              </a:rPr>
              <a:t>OUT OF SCOPE — DELIBERATE ARCHITECTURAL BOUNDARIES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01184"/>
            <a:ext cx="3063240" cy="453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900" b="1" dirty="0">
                <a:solidFill>
                  <a:srgbClr val="93321F"/>
                </a:solidFill>
                <a:latin typeface="Calibri"/>
              </a:rPr>
              <a:t>• Final Loan Sanction / Underwriting</a:t>
            </a:r>
            <a:r>
              <a:rPr sz="900" b="0" dirty="0">
                <a:solidFill>
                  <a:srgbClr val="5E2417"/>
                </a:solidFill>
                <a:latin typeface="Calibri"/>
              </a:rPr>
              <a:t> — Pre-qualification guidance only.</a:t>
            </a:r>
          </a:p>
          <a:p>
            <a:pPr algn="l">
              <a:spcAft>
                <a:spcPts val="250"/>
              </a:spcAft>
            </a:pPr>
            <a:r>
              <a:rPr sz="900" b="1" dirty="0">
                <a:solidFill>
                  <a:srgbClr val="93321F"/>
                </a:solidFill>
                <a:latin typeface="Calibri"/>
              </a:rPr>
              <a:t>• Live Credit Bureau Pull</a:t>
            </a:r>
            <a:r>
              <a:rPr sz="900" b="0" dirty="0">
                <a:solidFill>
                  <a:srgbClr val="5E2417"/>
                </a:solidFill>
                <a:latin typeface="Calibri"/>
              </a:rPr>
              <a:t> — CIBIL score is user-supplied in chat.</a:t>
            </a:r>
            <a:endParaRPr lang="en-IN" sz="900" b="0" dirty="0">
              <a:solidFill>
                <a:srgbClr val="5E2417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886200" y="4901184"/>
            <a:ext cx="3108960" cy="7694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900" b="1" dirty="0">
                <a:solidFill>
                  <a:srgbClr val="93321F"/>
                </a:solidFill>
                <a:latin typeface="Calibri"/>
              </a:rPr>
              <a:t>• Document OCR / KYC Verification</a:t>
            </a:r>
            <a:r>
              <a:rPr sz="900" b="0" dirty="0">
                <a:solidFill>
                  <a:srgbClr val="5E2417"/>
                </a:solidFill>
                <a:latin typeface="Calibri"/>
              </a:rPr>
              <a:t> — Checklist guidance only; no file upload.</a:t>
            </a:r>
            <a:endParaRPr lang="en-IN" sz="900" dirty="0">
              <a:solidFill>
                <a:srgbClr val="5E2417"/>
              </a:solidFill>
              <a:latin typeface="Calibri"/>
            </a:endParaRPr>
          </a:p>
          <a:p>
            <a:pPr>
              <a:spcAft>
                <a:spcPts val="250"/>
              </a:spcAft>
            </a:pPr>
            <a:r>
              <a:rPr lang="en-US" sz="900" b="1" dirty="0">
                <a:solidFill>
                  <a:srgbClr val="93321F"/>
                </a:solidFill>
              </a:rPr>
              <a:t>• Core Banking / LOS Write-Back</a:t>
            </a:r>
            <a:r>
              <a:rPr lang="en-US" sz="900" dirty="0">
                <a:solidFill>
                  <a:srgbClr val="5E2417"/>
                </a:solidFill>
              </a:rPr>
              <a:t> — Read-only pre-qualification microservice.</a:t>
            </a:r>
          </a:p>
          <a:p>
            <a:pPr algn="l">
              <a:spcAft>
                <a:spcPts val="250"/>
              </a:spcAft>
            </a:pPr>
            <a:endParaRPr sz="900" b="0" dirty="0">
              <a:solidFill>
                <a:srgbClr val="5E2417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45680" y="1444752"/>
            <a:ext cx="427939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latin typeface="Calibri"/>
              </a:rPr>
              <a:t>SOLUTION — REQUEST PATH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33488" y="1682496"/>
            <a:ext cx="4279392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61504" y="1728216"/>
            <a:ext cx="402336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B3A6B"/>
                </a:solidFill>
                <a:latin typeface="Calibri"/>
              </a:rPr>
              <a:t>1. User Chat Input (Streamlit :8501)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1504" y="1911095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 i="0">
                <a:solidFill>
                  <a:srgbClr val="5B6B85"/>
                </a:solidFill>
                <a:latin typeface="Calibri"/>
              </a:rPr>
              <a:t>Natural query + conversation history + prior_profile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139696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8595AC"/>
                </a:solidFill>
                <a:latin typeface="Calibri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33488" y="2267712"/>
            <a:ext cx="4279392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61504" y="2313432"/>
            <a:ext cx="402336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B3A6B"/>
                </a:solidFill>
                <a:latin typeface="Calibri"/>
              </a:rPr>
              <a:t>2. Input Guardrails &amp; PII Redaction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1504" y="2496312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 i="0">
                <a:solidFill>
                  <a:srgbClr val="5B6B85"/>
                </a:solidFill>
                <a:latin typeface="Calibri"/>
              </a:rPr>
              <a:t>Blocks prompt injection &amp; off-topic chat; masks PAN/Aadhaar/Phone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724912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8595AC"/>
                </a:solidFill>
                <a:latin typeface="Calibri"/>
              </a:rP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33488" y="2852928"/>
            <a:ext cx="4279392" cy="475488"/>
          </a:xfrm>
          <a:prstGeom prst="roundRect">
            <a:avLst>
              <a:gd name="adj" fmla="val 8000"/>
            </a:avLst>
          </a:prstGeom>
          <a:solidFill>
            <a:srgbClr val="FBF1E6"/>
          </a:solidFill>
          <a:ln w="12700">
            <a:solidFill>
              <a:srgbClr val="E7C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61504" y="2898648"/>
            <a:ext cx="402336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B5651D"/>
                </a:solidFill>
                <a:latin typeface="Calibri"/>
              </a:rPr>
              <a:t>3. Semantic Extractor + Profile Merge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1504" y="3081528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 i="0">
                <a:solidFill>
                  <a:srgbClr val="5B6B85"/>
                </a:solidFill>
                <a:latin typeface="Calibri"/>
              </a:rPr>
              <a:t>LLM (temp=0) + 30+ alias map → merges into 18-field ApplicantProfile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310128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8595AC"/>
                </a:solidFill>
                <a:latin typeface="Calibri"/>
              </a:rPr>
              <a:t>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33488" y="3438144"/>
            <a:ext cx="4279392" cy="475488"/>
          </a:xfrm>
          <a:prstGeom prst="roundRect">
            <a:avLst>
              <a:gd name="adj" fmla="val 8000"/>
            </a:avLst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61504" y="3483864"/>
            <a:ext cx="402336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4. Deterministic Calculators &amp; Rules 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61504" y="3666744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 i="0">
                <a:solidFill>
                  <a:srgbClr val="D0DCEE"/>
                </a:solidFill>
                <a:latin typeface="Calibri"/>
              </a:rPr>
              <a:t>Python computes EMI, FOIR, LTV, Max Loan &amp; runs PL/HL/AL rules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895344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8595AC"/>
                </a:solidFill>
                <a:latin typeface="Calibri"/>
              </a:rP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33488" y="4023360"/>
            <a:ext cx="4279392" cy="475488"/>
          </a:xfrm>
          <a:prstGeom prst="roundRect">
            <a:avLst>
              <a:gd name="adj" fmla="val 8000"/>
            </a:avLst>
          </a:prstGeom>
          <a:solidFill>
            <a:srgbClr val="FBF1E6"/>
          </a:solidFill>
          <a:ln w="12700">
            <a:solidFill>
              <a:srgbClr val="E7C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61504" y="4069080"/>
            <a:ext cx="402336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B5651D"/>
                </a:solidFill>
                <a:latin typeface="Calibri"/>
              </a:rPr>
              <a:t>5. Versioned ChromaDB RAG Retrieval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4251960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 i="0">
                <a:solidFill>
                  <a:srgbClr val="5B6B85"/>
                </a:solidFill>
                <a:latin typeface="Calibri"/>
              </a:rPr>
              <a:t>Queries product collection filtered to active policy version (v1/v2)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4480560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8595AC"/>
                </a:solidFill>
                <a:latin typeface="Calibri"/>
              </a:rPr>
              <a:t>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33488" y="4608576"/>
            <a:ext cx="4279392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61504" y="4654296"/>
            <a:ext cx="402336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B3A6B"/>
                </a:solidFill>
                <a:latin typeface="Calibri"/>
              </a:rPr>
              <a:t>6. Grounded LLM Explanation Stream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61504" y="4837176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 i="0">
                <a:solidFill>
                  <a:srgbClr val="5B6B85"/>
                </a:solidFill>
                <a:latin typeface="Calibri"/>
              </a:rPr>
              <a:t>LiteLLM → Qwen2.5 streams explanation via asyncio.Queue(20)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5065776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8595AC"/>
                </a:solidFill>
                <a:latin typeface="Calibri"/>
              </a:rPr>
              <a:t>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33488" y="5193792"/>
            <a:ext cx="4279392" cy="475488"/>
          </a:xfrm>
          <a:prstGeom prst="roundRect">
            <a:avLst>
              <a:gd name="adj" fmla="val 8000"/>
            </a:avLst>
          </a:prstGeom>
          <a:solidFill>
            <a:srgbClr val="EAF4EE"/>
          </a:solidFill>
          <a:ln w="12700">
            <a:solidFill>
              <a:srgbClr val="C6D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61504" y="5239512"/>
            <a:ext cx="402336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6F43"/>
                </a:solidFill>
                <a:latin typeface="Calibri"/>
              </a:rPr>
              <a:t>7. Output Guard, Citations &amp; Audit Log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61504" y="5422392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 i="0">
                <a:solidFill>
                  <a:srgbClr val="5B6B85"/>
                </a:solidFill>
                <a:latin typeface="Calibri"/>
              </a:rPr>
              <a:t>Verifies Rule IDs, blocks approval guarantees, writes audit.jsonl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5888736"/>
            <a:ext cx="11045952" cy="512064"/>
          </a:xfrm>
          <a:prstGeom prst="roundRect">
            <a:avLst>
              <a:gd name="adj" fmla="val 12000"/>
            </a:avLst>
          </a:prstGeom>
          <a:solidFill>
            <a:srgbClr val="0E1E38"/>
          </a:solidFill>
          <a:ln w="12700">
            <a:solidFill>
              <a:srgbClr val="0E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94944" y="5998464"/>
            <a:ext cx="1417320" cy="292608"/>
          </a:xfrm>
          <a:prstGeom prst="roundRect">
            <a:avLst>
              <a:gd name="adj" fmla="val 20000"/>
            </a:avLst>
          </a:prstGeom>
          <a:solidFill>
            <a:srgbClr val="B5651D"/>
          </a:solidFill>
          <a:ln w="12700">
            <a:solidFill>
              <a:srgbClr val="B56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94944" y="5998464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80" b="1" i="0">
                <a:solidFill>
                  <a:srgbClr val="FFFFFF"/>
                </a:solidFill>
                <a:latin typeface="Calibri"/>
              </a:rPr>
              <a:t>KEY DESIGN CHOICE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49424" y="5961888"/>
            <a:ext cx="92171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mbria"/>
              </a:rPr>
              <a:t>Every eligibility outcome is computed deterministically in Python before the LLM writes a single explanation token.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0352" y="583077"/>
            <a:ext cx="11045952" cy="2286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16783" y="100584"/>
            <a:ext cx="110459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 dirty="0">
                <a:solidFill>
                  <a:srgbClr val="0E1E38"/>
                </a:solidFill>
                <a:latin typeface="Cambria"/>
              </a:rPr>
              <a:t>Technical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783" y="864109"/>
            <a:ext cx="1104595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dirty="0">
                <a:solidFill>
                  <a:srgbClr val="5B6B85"/>
                </a:solidFill>
                <a:latin typeface="Calibri"/>
              </a:rPr>
              <a:t>End-to-end neuro-symbolic RAG pipeline, streaming SSE event bus, and 5-service Docker Compose topology.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44752"/>
            <a:ext cx="11045952" cy="3310128"/>
          </a:xfrm>
          <a:prstGeom prst="roundRect">
            <a:avLst>
              <a:gd name="adj" fmla="val 3000"/>
            </a:avLst>
          </a:prstGeom>
          <a:solidFill>
            <a:srgbClr val="F5F8FC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53619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1B3A6B"/>
                </a:solidFill>
                <a:latin typeface="Calibri"/>
              </a:rPr>
              <a:t>APPLICATION FLOW (3 TIERS × 4 MODULES)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792224"/>
            <a:ext cx="2505456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1847088"/>
            <a:ext cx="22860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1B3A6B"/>
                </a:solidFill>
                <a:latin typeface="Calibri"/>
              </a:rPr>
              <a:t>1. Streamlit Chat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029967"/>
            <a:ext cx="2286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B5651D"/>
                </a:solidFill>
                <a:latin typeface="Consolas"/>
              </a:rPr>
              <a:t>ui/chat_app.py · :8501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19456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34155"/>
                </a:solidFill>
                <a:latin typeface="Calibri"/>
              </a:rPr>
              <a:t>Single-column chat, typing animation, metric strip, expandable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55264" y="2066543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8595AC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56432" y="1792224"/>
            <a:ext cx="2505456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66160" y="1847088"/>
            <a:ext cx="22860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1B3A6B"/>
                </a:solidFill>
                <a:latin typeface="Calibri"/>
              </a:rPr>
              <a:t>2. FastAPI v3.0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029967"/>
            <a:ext cx="2286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B5651D"/>
                </a:solidFill>
                <a:latin typeface="Consolas"/>
              </a:rPr>
              <a:t>api/app.py · :8001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19456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34155"/>
                </a:solidFill>
                <a:latin typeface="Calibri"/>
              </a:rPr>
              <a:t>/chat/stream (SSE), /ask, /scenario, /versions, /health, /metrics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0176" y="2066543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8595AC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1344" y="1792224"/>
            <a:ext cx="2505456" cy="804672"/>
          </a:xfrm>
          <a:prstGeom prst="roundRect">
            <a:avLst>
              <a:gd name="adj" fmla="val 8000"/>
            </a:avLst>
          </a:prstGeom>
          <a:solidFill>
            <a:srgbClr val="FBF1E6"/>
          </a:solidFill>
          <a:ln w="12700">
            <a:solidFill>
              <a:srgbClr val="E7C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91072" y="1847088"/>
            <a:ext cx="22860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B5651D"/>
                </a:solidFill>
                <a:latin typeface="Calibri"/>
              </a:rPr>
              <a:t>3. Input Guard &amp; Redact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2029967"/>
            <a:ext cx="2286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B5651D"/>
                </a:solidFill>
                <a:latin typeface="Consolas"/>
              </a:rPr>
              <a:t>guardrails.py · redact.py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1072" y="219456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34155"/>
                </a:solidFill>
                <a:latin typeface="Calibri"/>
              </a:rPr>
              <a:t>30+ injection patterns, domain keyword gate, PAN/Aadhaar/Phone mask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05088" y="2066543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8595AC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06256" y="1792224"/>
            <a:ext cx="2505456" cy="804672"/>
          </a:xfrm>
          <a:prstGeom prst="roundRect">
            <a:avLst>
              <a:gd name="adj" fmla="val 8000"/>
            </a:avLst>
          </a:prstGeom>
          <a:solidFill>
            <a:srgbClr val="FBF1E6"/>
          </a:solidFill>
          <a:ln w="12700">
            <a:solidFill>
              <a:srgbClr val="E7C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15984" y="1847088"/>
            <a:ext cx="22860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B5651D"/>
                </a:solidFill>
                <a:latin typeface="Calibri"/>
              </a:rPr>
              <a:t>4. Profile Extractor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5984" y="2029967"/>
            <a:ext cx="2286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B5651D"/>
                </a:solidFill>
                <a:latin typeface="Consolas"/>
              </a:rPr>
              <a:t>profile_extractor.py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5984" y="219456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34155"/>
                </a:solidFill>
                <a:latin typeface="Calibri"/>
              </a:rPr>
              <a:t>LLM (temp=0) JSON + 30+ loan aliases + _merge_profiles memory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2606039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B5651D"/>
                </a:solidFill>
                <a:latin typeface="Calibri"/>
              </a:rPr>
              <a:t>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2798064"/>
            <a:ext cx="2505456" cy="804672"/>
          </a:xfrm>
          <a:prstGeom prst="roundRect">
            <a:avLst>
              <a:gd name="adj" fmla="val 8000"/>
            </a:avLst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1248" y="2852928"/>
            <a:ext cx="22860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FFFFFF"/>
                </a:solidFill>
                <a:latin typeface="Calibri"/>
              </a:rPr>
              <a:t>5. Financial Calculators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3035808"/>
            <a:ext cx="2286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FBBF24"/>
                </a:solidFill>
                <a:latin typeface="Consolas"/>
              </a:rPr>
              <a:t>api/calculators.py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320040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Pure-Python EMI, FOIR, LTV (property &amp; on-road price), Max Loan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55264" y="3072384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8595AC"/>
                </a:solidFill>
                <a:latin typeface="Calibri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56432" y="2798064"/>
            <a:ext cx="2505456" cy="804672"/>
          </a:xfrm>
          <a:prstGeom prst="roundRect">
            <a:avLst>
              <a:gd name="adj" fmla="val 8000"/>
            </a:avLst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566160" y="2852928"/>
            <a:ext cx="22860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FFFFFF"/>
                </a:solidFill>
                <a:latin typeface="Calibri"/>
              </a:rPr>
              <a:t>6. Python Rules Engine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3035808"/>
            <a:ext cx="2286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FBBF24"/>
                </a:solidFill>
                <a:latin typeface="Consolas"/>
              </a:rPr>
              <a:t>api/rules_engine.py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320040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25 evaluators (PL-*, HL-*, AL-*) → 4 deterministic Decision states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0176" y="3072384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8595AC"/>
                </a:solidFill>
                <a:latin typeface="Calibri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81344" y="2798064"/>
            <a:ext cx="2505456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91072" y="2852928"/>
            <a:ext cx="22860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1B3A6B"/>
                </a:solidFill>
                <a:latin typeface="Calibri"/>
              </a:rPr>
              <a:t>7. Versioned ChromaDB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91072" y="3035808"/>
            <a:ext cx="2286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B5651D"/>
                </a:solidFill>
                <a:latin typeface="Consolas"/>
              </a:rPr>
              <a:t>rag/ingest.py · 40 chunks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91072" y="320040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34155"/>
                </a:solidFill>
                <a:latin typeface="Calibri"/>
              </a:rPr>
              <a:t>personal_loan (18), home_loan (11), auto_loan (11) + version filter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05088" y="3072384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8595AC"/>
                </a:solidFill>
                <a:latin typeface="Calibri"/>
              </a:rPr>
              <a:t>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06256" y="2798064"/>
            <a:ext cx="2505456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015984" y="2852928"/>
            <a:ext cx="22860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1B3A6B"/>
                </a:solidFill>
                <a:latin typeface="Calibri"/>
              </a:rPr>
              <a:t>8. Prompt Registry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15984" y="3035808"/>
            <a:ext cx="2286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B5651D"/>
                </a:solidFill>
                <a:latin typeface="Consolas"/>
              </a:rPr>
              <a:t>prompts/registry.yaml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15984" y="320040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34155"/>
                </a:solidFill>
                <a:latin typeface="Calibri"/>
              </a:rPr>
              <a:t>Versioned prompts (v1/v2) with owner, changelog &amp; env promotion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97880" y="3611879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B5651D"/>
                </a:solidFill>
                <a:latin typeface="Calibri"/>
              </a:rPr>
              <a:t>↓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3803904"/>
            <a:ext cx="2505456" cy="804672"/>
          </a:xfrm>
          <a:prstGeom prst="roundRect">
            <a:avLst>
              <a:gd name="adj" fmla="val 8000"/>
            </a:avLst>
          </a:prstGeom>
          <a:solidFill>
            <a:srgbClr val="2B5496"/>
          </a:solidFill>
          <a:ln w="12700">
            <a:solidFill>
              <a:srgbClr val="2B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41248" y="3858768"/>
            <a:ext cx="22860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FFFFFF"/>
                </a:solidFill>
                <a:latin typeface="Calibri"/>
              </a:rPr>
              <a:t>9. LiteLLM Gateway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" y="4041648"/>
            <a:ext cx="2286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FBBF24"/>
                </a:solidFill>
                <a:latin typeface="Consolas"/>
              </a:rPr>
              <a:t>litellm · :4000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" y="420624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OpenAI-compatible proxy, 2 retries, qwen-local → cloud fallback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55264" y="4078224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8595AC"/>
                </a:solidFill>
                <a:latin typeface="Calibri"/>
              </a:rPr>
              <a:t>→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456432" y="3803904"/>
            <a:ext cx="2505456" cy="804672"/>
          </a:xfrm>
          <a:prstGeom prst="roundRect">
            <a:avLst>
              <a:gd name="adj" fmla="val 8000"/>
            </a:avLst>
          </a:prstGeom>
          <a:solidFill>
            <a:srgbClr val="2B5496"/>
          </a:solidFill>
          <a:ln w="12700">
            <a:solidFill>
              <a:srgbClr val="2B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566160" y="3858768"/>
            <a:ext cx="22860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FFFFFF"/>
                </a:solidFill>
                <a:latin typeface="Calibri"/>
              </a:rPr>
              <a:t>10. Local Model Server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66160" y="4041648"/>
            <a:ext cx="2286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FBBF24"/>
                </a:solidFill>
                <a:latin typeface="Consolas"/>
              </a:rPr>
              <a:t>model-server · :8090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66160" y="420624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Qwen2.5-1.5B-Instruct on CPU; applicant data never leaves host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0176" y="4078224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8595AC"/>
                </a:solidFill>
                <a:latin typeface="Calibri"/>
              </a:rPr>
              <a:t>→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81344" y="3803904"/>
            <a:ext cx="2505456" cy="804672"/>
          </a:xfrm>
          <a:prstGeom prst="roundRect">
            <a:avLst>
              <a:gd name="adj" fmla="val 8000"/>
            </a:avLst>
          </a:prstGeom>
          <a:solidFill>
            <a:srgbClr val="FBF1E6"/>
          </a:solidFill>
          <a:ln w="12700">
            <a:solidFill>
              <a:srgbClr val="E7C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291072" y="3858768"/>
            <a:ext cx="22860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B5651D"/>
                </a:solidFill>
                <a:latin typeface="Calibri"/>
              </a:rPr>
              <a:t>11. Output Guard &amp; Verify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91072" y="4041648"/>
            <a:ext cx="2286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B5651D"/>
                </a:solidFill>
                <a:latin typeface="Consolas"/>
              </a:rPr>
              <a:t>Sentence Buffer + Queue(20)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91072" y="420624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34155"/>
                </a:solidFill>
                <a:latin typeface="Calibri"/>
              </a:rPr>
              <a:t>Blocks approval guarantees mid-stream; drops unverified Rule IDs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05088" y="4078224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8595AC"/>
                </a:solidFill>
                <a:latin typeface="Calibri"/>
              </a:rPr>
              <a:t>→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906256" y="3803904"/>
            <a:ext cx="2505456" cy="804672"/>
          </a:xfrm>
          <a:prstGeom prst="roundRect">
            <a:avLst>
              <a:gd name="adj" fmla="val 8000"/>
            </a:avLst>
          </a:prstGeom>
          <a:solidFill>
            <a:srgbClr val="EAF4EE"/>
          </a:solidFill>
          <a:ln w="12700">
            <a:solidFill>
              <a:srgbClr val="C6D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015984" y="3858768"/>
            <a:ext cx="22860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1F6F43"/>
                </a:solidFill>
                <a:latin typeface="Calibri"/>
              </a:rPr>
              <a:t>12. Grounded Response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15984" y="4041648"/>
            <a:ext cx="2286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B5651D"/>
                </a:solidFill>
                <a:latin typeface="Consolas"/>
              </a:rPr>
              <a:t>SSE Stream + audit.jsonl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15984" y="420624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34155"/>
                </a:solidFill>
                <a:latin typeface="Calibri"/>
              </a:rPr>
              <a:t>Streams tokens + decision badge + KPIs + writes versioned audit log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48463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8595AC"/>
                </a:solidFill>
                <a:latin typeface="Calibri"/>
              </a:rPr>
              <a:t>SUPPORTING &amp; MLOps INFRASTRUCTURE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66928" y="5065776"/>
            <a:ext cx="2615184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76656" y="5120640"/>
            <a:ext cx="23957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B3A6B"/>
                </a:solidFill>
                <a:latin typeface="Calibri"/>
              </a:rPr>
              <a:t>Docker Compose Topology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6656" y="5285232"/>
            <a:ext cx="239572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B5651D"/>
                </a:solidFill>
                <a:latin typeface="Consolas"/>
              </a:rPr>
              <a:t>docker-compose.yml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6656" y="5431536"/>
            <a:ext cx="23957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 i="0">
                <a:solidFill>
                  <a:srgbClr val="334155"/>
                </a:solidFill>
                <a:latin typeface="Calibri"/>
              </a:rPr>
              <a:t>Orchestrates 5 health-checked services (api, litellm, model-server, prometheus, grafana); UI runs on :8501.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374136" y="5065776"/>
            <a:ext cx="2615184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483864" y="5120640"/>
            <a:ext cx="23957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B3A6B"/>
                </a:solidFill>
                <a:latin typeface="Calibri"/>
              </a:rPr>
              <a:t>Prometheus &amp; Grafana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83864" y="5285232"/>
            <a:ext cx="239572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B5651D"/>
                </a:solidFill>
                <a:latin typeface="Consolas"/>
              </a:rPr>
              <a:t>:9090 · :3000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83864" y="5431536"/>
            <a:ext cx="23957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 i="0">
                <a:solidFill>
                  <a:srgbClr val="334155"/>
                </a:solidFill>
                <a:latin typeface="Calibri"/>
              </a:rPr>
              <a:t>Scrapes /metrics every 5s; provisioned dashboard tracks traffic, p50/p95 latency, and decision outcomes.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181344" y="5065776"/>
            <a:ext cx="2615184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291072" y="5120640"/>
            <a:ext cx="23957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B3A6B"/>
                </a:solidFill>
                <a:latin typeface="Calibri"/>
              </a:rPr>
              <a:t>Langfuse + JSONL Audit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91072" y="5285232"/>
            <a:ext cx="239572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B5651D"/>
                </a:solidFill>
                <a:latin typeface="Consolas"/>
              </a:rPr>
              <a:t>logs/audit.jsonl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91072" y="5431536"/>
            <a:ext cx="23957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 i="0">
                <a:solidFill>
                  <a:srgbClr val="334155"/>
                </a:solidFill>
                <a:latin typeface="Calibri"/>
              </a:rPr>
              <a:t>Captures per-turn trace spans + immutable JSONL audit record with policy_id, policy_version &amp; rule_checks.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988552" y="5065776"/>
            <a:ext cx="2615184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098280" y="5120640"/>
            <a:ext cx="23957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B3A6B"/>
                </a:solidFill>
                <a:latin typeface="Calibri"/>
              </a:rPr>
              <a:t>2-Stage CI/CD Eval Gate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098280" y="5285232"/>
            <a:ext cx="239572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B5651D"/>
                </a:solidFill>
                <a:latin typeface="Consolas"/>
              </a:rPr>
              <a:t>.github/workflows/eval-gate.yml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098280" y="5431536"/>
            <a:ext cx="23957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 i="0">
                <a:solidFill>
                  <a:srgbClr val="334155"/>
                </a:solidFill>
                <a:latin typeface="Calibri"/>
              </a:rPr>
              <a:t>Stage 1: 80 pytest tests on every branch push. Stage 2: 15 Promptfoo eval cases on PRs blocking bad merges.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66928" y="5888736"/>
            <a:ext cx="11045952" cy="512064"/>
          </a:xfrm>
          <a:prstGeom prst="roundRect">
            <a:avLst>
              <a:gd name="adj" fmla="val 12000"/>
            </a:avLst>
          </a:prstGeom>
          <a:solidFill>
            <a:srgbClr val="0E1E38"/>
          </a:solidFill>
          <a:ln w="12700">
            <a:solidFill>
              <a:srgbClr val="0E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694944" y="5998464"/>
            <a:ext cx="1417320" cy="292608"/>
          </a:xfrm>
          <a:prstGeom prst="roundRect">
            <a:avLst>
              <a:gd name="adj" fmla="val 20000"/>
            </a:avLst>
          </a:prstGeom>
          <a:solidFill>
            <a:srgbClr val="B5651D"/>
          </a:solidFill>
          <a:ln w="12700">
            <a:solidFill>
              <a:srgbClr val="B56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94944" y="5998464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80" b="1" i="0">
                <a:solidFill>
                  <a:srgbClr val="FFFFFF"/>
                </a:solidFill>
                <a:latin typeface="Calibri"/>
              </a:rPr>
              <a:t>BACKPRESSURE &amp; RESILIENCE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249424" y="5961888"/>
            <a:ext cx="92171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mbria"/>
              </a:rPr>
              <a:t>SSE streaming uses bounded asyncio.Queue(maxsize=20) with mid-stream error recovery and automatic LiteLLM retry/fallback.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6" y="625774"/>
            <a:ext cx="11045952" cy="2286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6" y="77724"/>
            <a:ext cx="110459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 dirty="0">
                <a:solidFill>
                  <a:srgbClr val="0E1E38"/>
                </a:solidFill>
                <a:latin typeface="Cambria"/>
              </a:rPr>
              <a:t>Multi-Product Eligibility Engine &amp; Financial Calculators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98816"/>
            <a:ext cx="11045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>
                <a:solidFill>
                  <a:srgbClr val="5B6B85"/>
                </a:solidFill>
                <a:latin typeface="Calibri"/>
              </a:rPr>
              <a:t>Three versioned loan products, 25 deterministic rule evaluators, pure-Python financial math, and zero-tag semantic detection.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10528"/>
            <a:ext cx="10241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595AC"/>
                </a:solidFill>
                <a:latin typeface="Calibri"/>
              </a:rPr>
              <a:t>Active policy versions are controlled via environment variables (ACTIVE_PERSONAL_LOAN_VERSION=v2, ACTIVE_HOME_LOAN_VERSION=v2, ACTIVE_AUTO_LOAN_VERSION=v1).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92240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8595AC"/>
                </a:solidFill>
                <a:latin typeface="Calibri"/>
              </a:rPr>
              <a:t>04 / 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26464"/>
            <a:ext cx="3547872" cy="2852928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" y="1499616"/>
            <a:ext cx="329183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Personal Loan (Unsecured)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700784"/>
            <a:ext cx="329183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B6B85"/>
                </a:solidFill>
                <a:latin typeface="Consolas"/>
              </a:rPr>
              <a:t>Policy LPQ-PL-2026-02 · Active: v2 (v1 available) · 18 Chunks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1883664"/>
            <a:ext cx="3291839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20"/>
              </a:spcAft>
            </a:pPr>
            <a:r>
              <a:rPr sz="880" b="1">
                <a:solidFill>
                  <a:srgbClr val="0E1E38"/>
                </a:solidFill>
                <a:latin typeface="Calibri"/>
              </a:rPr>
              <a:t>• Age (PL-AGE-001)</a:t>
            </a:r>
            <a:r>
              <a:rPr sz="880" b="0">
                <a:solidFill>
                  <a:srgbClr val="334155"/>
                </a:solidFill>
                <a:latin typeface="Calibri"/>
              </a:rPr>
              <a:t> — 21 to 60 yrs; loan closes before age 65</a:t>
            </a:r>
          </a:p>
          <a:p>
            <a:pPr algn="l">
              <a:spcAft>
                <a:spcPts val="220"/>
              </a:spcAft>
            </a:pPr>
            <a:r>
              <a:rPr sz="880" b="1">
                <a:solidFill>
                  <a:srgbClr val="0E1E38"/>
                </a:solidFill>
                <a:latin typeface="Calibri"/>
              </a:rPr>
              <a:t>• Income (PL-INC-001)</a:t>
            </a:r>
            <a:r>
              <a:rPr sz="880" b="0">
                <a:solidFill>
                  <a:srgbClr val="334155"/>
                </a:solidFill>
                <a:latin typeface="Calibri"/>
              </a:rPr>
              <a:t> — Min ₹25,000/mo net take-home pay</a:t>
            </a:r>
          </a:p>
          <a:p>
            <a:pPr algn="l">
              <a:spcAft>
                <a:spcPts val="220"/>
              </a:spcAft>
            </a:pPr>
            <a:r>
              <a:rPr sz="880" b="1">
                <a:solidFill>
                  <a:srgbClr val="0E1E38"/>
                </a:solidFill>
                <a:latin typeface="Calibri"/>
              </a:rPr>
              <a:t>• Employment (PL-EMP-001)</a:t>
            </a:r>
            <a:r>
              <a:rPr sz="880" b="0">
                <a:solidFill>
                  <a:srgbClr val="334155"/>
                </a:solidFill>
                <a:latin typeface="Calibri"/>
              </a:rPr>
              <a:t> — Salaried ≥12m (6m current); Self-emp ≥24m</a:t>
            </a:r>
          </a:p>
          <a:p>
            <a:pPr algn="l">
              <a:spcAft>
                <a:spcPts val="220"/>
              </a:spcAft>
            </a:pPr>
            <a:r>
              <a:rPr sz="880" b="1">
                <a:solidFill>
                  <a:srgbClr val="0E1E38"/>
                </a:solidFill>
                <a:latin typeface="Calibri"/>
              </a:rPr>
              <a:t>• Credit Score (PL-CRD-001)</a:t>
            </a:r>
            <a:r>
              <a:rPr sz="880" b="0">
                <a:solidFill>
                  <a:srgbClr val="334155"/>
                </a:solidFill>
                <a:latin typeface="Calibri"/>
              </a:rPr>
              <a:t> — Min CIBIL 700 in v2 (tightened from 650 in v1)</a:t>
            </a:r>
          </a:p>
          <a:p>
            <a:pPr algn="l">
              <a:spcAft>
                <a:spcPts val="220"/>
              </a:spcAft>
            </a:pPr>
            <a:r>
              <a:rPr sz="880" b="1">
                <a:solidFill>
                  <a:srgbClr val="0E1E38"/>
                </a:solidFill>
                <a:latin typeface="Calibri"/>
              </a:rPr>
              <a:t>• Max FOIR (PL-FOIR-001)</a:t>
            </a:r>
            <a:r>
              <a:rPr sz="880" b="0">
                <a:solidFill>
                  <a:srgbClr val="334155"/>
                </a:solidFill>
                <a:latin typeface="Calibri"/>
              </a:rPr>
              <a:t> — ≤ 40% of net income in v2 (was 50% in v1)</a:t>
            </a:r>
          </a:p>
          <a:p>
            <a:pPr algn="l">
              <a:spcAft>
                <a:spcPts val="220"/>
              </a:spcAft>
            </a:pPr>
            <a:r>
              <a:rPr sz="880" b="1">
                <a:solidFill>
                  <a:srgbClr val="0E1E38"/>
                </a:solidFill>
                <a:latin typeface="Calibri"/>
              </a:rPr>
              <a:t>• Amount &amp; Tenure</a:t>
            </a:r>
            <a:r>
              <a:rPr sz="880" b="0">
                <a:solidFill>
                  <a:srgbClr val="334155"/>
                </a:solidFill>
                <a:latin typeface="Calibri"/>
              </a:rPr>
              <a:t> — ₹50,000 – ₹30,00,000 · 12 to 60 months</a:t>
            </a:r>
          </a:p>
          <a:p>
            <a:pPr algn="l">
              <a:spcAft>
                <a:spcPts val="220"/>
              </a:spcAft>
            </a:pPr>
            <a:r>
              <a:rPr sz="880" b="1">
                <a:solidFill>
                  <a:srgbClr val="0E1E38"/>
                </a:solidFill>
                <a:latin typeface="Calibri"/>
              </a:rPr>
              <a:t>• Benchmark Rate</a:t>
            </a:r>
            <a:r>
              <a:rPr sz="880" b="0">
                <a:solidFill>
                  <a:srgbClr val="334155"/>
                </a:solidFill>
                <a:latin typeface="Calibri"/>
              </a:rPr>
              <a:t> — 12.0% p.a. reducing-balance EMI</a:t>
            </a:r>
          </a:p>
          <a:p>
            <a:pPr algn="l">
              <a:spcAft>
                <a:spcPts val="220"/>
              </a:spcAft>
            </a:pPr>
            <a:r>
              <a:rPr sz="880" b="1">
                <a:solidFill>
                  <a:srgbClr val="0E1E38"/>
                </a:solidFill>
                <a:latin typeface="Calibri"/>
              </a:rPr>
              <a:t>• Manual Review</a:t>
            </a:r>
            <a:r>
              <a:rPr sz="880" b="0">
                <a:solidFill>
                  <a:srgbClr val="334155"/>
                </a:solidFill>
                <a:latin typeface="Calibri"/>
              </a:rPr>
              <a:t> — CIBIL 680–699 w/ income ≥₹75k or FOIR 40–45%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426464"/>
            <a:ext cx="3547872" cy="2852928"/>
          </a:xfrm>
          <a:prstGeom prst="roundRect">
            <a:avLst>
              <a:gd name="adj" fmla="val 4000"/>
            </a:avLst>
          </a:prstGeom>
          <a:solidFill>
            <a:srgbClr val="EBF2FA"/>
          </a:solidFill>
          <a:ln w="12700">
            <a:solidFill>
              <a:srgbClr val="C3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43983" y="1499616"/>
            <a:ext cx="329183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Home Loan (Property-Backed)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3" y="1700784"/>
            <a:ext cx="329183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B6B85"/>
                </a:solidFill>
                <a:latin typeface="Consolas"/>
              </a:rPr>
              <a:t>Policy LPQ-HL-2026-02 · Active: v2 (v1 available) · 11 Chunks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983" y="1883664"/>
            <a:ext cx="3291839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20"/>
              </a:spcAft>
            </a:pPr>
            <a:r>
              <a:rPr sz="880" b="1">
                <a:solidFill>
                  <a:srgbClr val="0E1E38"/>
                </a:solidFill>
                <a:latin typeface="Calibri"/>
              </a:rPr>
              <a:t>• Age (HL-AGE-001)</a:t>
            </a:r>
            <a:r>
              <a:rPr sz="880" b="0">
                <a:solidFill>
                  <a:srgbClr val="334155"/>
                </a:solidFill>
                <a:latin typeface="Calibri"/>
              </a:rPr>
              <a:t> — 21 to 65 yrs; loan closes before age 70</a:t>
            </a:r>
          </a:p>
          <a:p>
            <a:pPr algn="l">
              <a:spcAft>
                <a:spcPts val="220"/>
              </a:spcAft>
            </a:pPr>
            <a:r>
              <a:rPr sz="880" b="1">
                <a:solidFill>
                  <a:srgbClr val="0E1E38"/>
                </a:solidFill>
                <a:latin typeface="Calibri"/>
              </a:rPr>
              <a:t>• Income (HL-INC-001)</a:t>
            </a:r>
            <a:r>
              <a:rPr sz="880" b="0">
                <a:solidFill>
                  <a:srgbClr val="334155"/>
                </a:solidFill>
                <a:latin typeface="Calibri"/>
              </a:rPr>
              <a:t> — Min ₹40,000/mo net monthly income</a:t>
            </a:r>
          </a:p>
          <a:p>
            <a:pPr algn="l">
              <a:spcAft>
                <a:spcPts val="220"/>
              </a:spcAft>
            </a:pPr>
            <a:r>
              <a:rPr sz="880" b="1">
                <a:solidFill>
                  <a:srgbClr val="0E1E38"/>
                </a:solidFill>
                <a:latin typeface="Calibri"/>
              </a:rPr>
              <a:t>• Employment (HL-EMP-001)</a:t>
            </a:r>
            <a:r>
              <a:rPr sz="880" b="0">
                <a:solidFill>
                  <a:srgbClr val="334155"/>
                </a:solidFill>
                <a:latin typeface="Calibri"/>
              </a:rPr>
              <a:t> — Salaried ≥24m (12m current); Self-emp ≥36m</a:t>
            </a:r>
          </a:p>
          <a:p>
            <a:pPr algn="l">
              <a:spcAft>
                <a:spcPts val="220"/>
              </a:spcAft>
            </a:pPr>
            <a:r>
              <a:rPr sz="880" b="1">
                <a:solidFill>
                  <a:srgbClr val="0E1E38"/>
                </a:solidFill>
                <a:latin typeface="Calibri"/>
              </a:rPr>
              <a:t>• Credit Score (HL-CRD-001)</a:t>
            </a:r>
            <a:r>
              <a:rPr sz="880" b="0">
                <a:solidFill>
                  <a:srgbClr val="334155"/>
                </a:solidFill>
                <a:latin typeface="Calibri"/>
              </a:rPr>
              <a:t> — Min CIBIL 700 (v1 was 650)</a:t>
            </a:r>
          </a:p>
          <a:p>
            <a:pPr algn="l">
              <a:spcAft>
                <a:spcPts val="220"/>
              </a:spcAft>
            </a:pPr>
            <a:r>
              <a:rPr sz="880" b="1">
                <a:solidFill>
                  <a:srgbClr val="0E1E38"/>
                </a:solidFill>
                <a:latin typeface="Calibri"/>
              </a:rPr>
              <a:t>• Max FOIR (HL-FOIR-001)</a:t>
            </a:r>
            <a:r>
              <a:rPr sz="880" b="0">
                <a:solidFill>
                  <a:srgbClr val="334155"/>
                </a:solidFill>
                <a:latin typeface="Calibri"/>
              </a:rPr>
              <a:t> — ≤ 50% of net monthly income</a:t>
            </a:r>
          </a:p>
          <a:p>
            <a:pPr algn="l">
              <a:spcAft>
                <a:spcPts val="220"/>
              </a:spcAft>
            </a:pPr>
            <a:r>
              <a:rPr sz="880" b="1">
                <a:solidFill>
                  <a:srgbClr val="0E1E38"/>
                </a:solidFill>
                <a:latin typeface="Calibri"/>
              </a:rPr>
              <a:t>• Tiered LTV &amp; Margin</a:t>
            </a:r>
            <a:r>
              <a:rPr sz="880" b="0">
                <a:solidFill>
                  <a:srgbClr val="334155"/>
                </a:solidFill>
                <a:latin typeface="Calibri"/>
              </a:rPr>
              <a:t> — ≤80% (≤₹75L) / ≤75% (&gt;₹75L); Down pmt ≥20%</a:t>
            </a:r>
          </a:p>
          <a:p>
            <a:pPr algn="l">
              <a:spcAft>
                <a:spcPts val="220"/>
              </a:spcAft>
            </a:pPr>
            <a:r>
              <a:rPr sz="880" b="1">
                <a:solidFill>
                  <a:srgbClr val="0E1E38"/>
                </a:solidFill>
                <a:latin typeface="Calibri"/>
              </a:rPr>
              <a:t>• Property &amp; Tenure</a:t>
            </a:r>
            <a:r>
              <a:rPr sz="880" b="0">
                <a:solidFill>
                  <a:srgbClr val="334155"/>
                </a:solidFill>
                <a:latin typeface="Calibri"/>
              </a:rPr>
              <a:t> — Apartment/Villa/House · ₹5L–₹5Cr · 60–360m</a:t>
            </a:r>
          </a:p>
          <a:p>
            <a:pPr algn="l">
              <a:spcAft>
                <a:spcPts val="220"/>
              </a:spcAft>
            </a:pPr>
            <a:r>
              <a:rPr sz="880" b="1">
                <a:solidFill>
                  <a:srgbClr val="0E1E38"/>
                </a:solidFill>
                <a:latin typeface="Calibri"/>
              </a:rPr>
              <a:t>• Benchmark Rate</a:t>
            </a:r>
            <a:r>
              <a:rPr sz="880" b="0">
                <a:solidFill>
                  <a:srgbClr val="334155"/>
                </a:solidFill>
                <a:latin typeface="Calibri"/>
              </a:rPr>
              <a:t> — 8.5% p.a. reducing-balance EMI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1426464"/>
            <a:ext cx="3547872" cy="2852928"/>
          </a:xfrm>
          <a:prstGeom prst="roundRect">
            <a:avLst>
              <a:gd name="adj" fmla="val 4000"/>
            </a:avLst>
          </a:prstGeom>
          <a:solidFill>
            <a:srgbClr val="FBF1E6"/>
          </a:solidFill>
          <a:ln w="12700">
            <a:solidFill>
              <a:srgbClr val="E7C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93024" y="1499616"/>
            <a:ext cx="329183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Calibri"/>
              </a:rPr>
              <a:t>Auto Loan (New in v3 — Vehicle-Backed)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1700784"/>
            <a:ext cx="329183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B6B85"/>
                </a:solidFill>
                <a:latin typeface="Consolas"/>
              </a:rPr>
              <a:t>Policy LPQ-AL-2026-01 · Active: v1 · 11 Chunks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1883664"/>
            <a:ext cx="3291839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20"/>
              </a:spcAft>
            </a:pPr>
            <a:r>
              <a:rPr sz="880" b="1">
                <a:solidFill>
                  <a:srgbClr val="0E1E38"/>
                </a:solidFill>
                <a:latin typeface="Calibri"/>
              </a:rPr>
              <a:t>• Age (AL-AGE-001)</a:t>
            </a:r>
            <a:r>
              <a:rPr sz="880" b="0">
                <a:solidFill>
                  <a:srgbClr val="334155"/>
                </a:solidFill>
                <a:latin typeface="Calibri"/>
              </a:rPr>
              <a:t> — 21 to 65 yrs; loan closes before age 70</a:t>
            </a:r>
          </a:p>
          <a:p>
            <a:pPr algn="l">
              <a:spcAft>
                <a:spcPts val="220"/>
              </a:spcAft>
            </a:pPr>
            <a:r>
              <a:rPr sz="880" b="1">
                <a:solidFill>
                  <a:srgbClr val="0E1E38"/>
                </a:solidFill>
                <a:latin typeface="Calibri"/>
              </a:rPr>
              <a:t>• Income (AL-INC-001)</a:t>
            </a:r>
            <a:r>
              <a:rPr sz="880" b="0">
                <a:solidFill>
                  <a:srgbClr val="334155"/>
                </a:solidFill>
                <a:latin typeface="Calibri"/>
              </a:rPr>
              <a:t> — Min ₹20,000/mo net monthly income</a:t>
            </a:r>
          </a:p>
          <a:p>
            <a:pPr algn="l">
              <a:spcAft>
                <a:spcPts val="220"/>
              </a:spcAft>
            </a:pPr>
            <a:r>
              <a:rPr sz="880" b="1">
                <a:solidFill>
                  <a:srgbClr val="0E1E38"/>
                </a:solidFill>
                <a:latin typeface="Calibri"/>
              </a:rPr>
              <a:t>• Employment (AL-EMP-001)</a:t>
            </a:r>
            <a:r>
              <a:rPr sz="880" b="0">
                <a:solidFill>
                  <a:srgbClr val="334155"/>
                </a:solidFill>
                <a:latin typeface="Calibri"/>
              </a:rPr>
              <a:t> — Salaried ≥12m; Self-employed ≥24m</a:t>
            </a:r>
          </a:p>
          <a:p>
            <a:pPr algn="l">
              <a:spcAft>
                <a:spcPts val="220"/>
              </a:spcAft>
            </a:pPr>
            <a:r>
              <a:rPr sz="880" b="1">
                <a:solidFill>
                  <a:srgbClr val="0E1E38"/>
                </a:solidFill>
                <a:latin typeface="Calibri"/>
              </a:rPr>
              <a:t>• Credit Score (AL-CRD-001)</a:t>
            </a:r>
            <a:r>
              <a:rPr sz="880" b="0">
                <a:solidFill>
                  <a:srgbClr val="334155"/>
                </a:solidFill>
                <a:latin typeface="Calibri"/>
              </a:rPr>
              <a:t> — Min CIBIL 680 (660–679 manual review)</a:t>
            </a:r>
          </a:p>
          <a:p>
            <a:pPr algn="l">
              <a:spcAft>
                <a:spcPts val="220"/>
              </a:spcAft>
            </a:pPr>
            <a:r>
              <a:rPr sz="880" b="1">
                <a:solidFill>
                  <a:srgbClr val="0E1E38"/>
                </a:solidFill>
                <a:latin typeface="Calibri"/>
              </a:rPr>
              <a:t>• Max FOIR (AL-FOIR-001)</a:t>
            </a:r>
            <a:r>
              <a:rPr sz="880" b="0">
                <a:solidFill>
                  <a:srgbClr val="334155"/>
                </a:solidFill>
                <a:latin typeface="Calibri"/>
              </a:rPr>
              <a:t> — ≤ 50% of net monthly income</a:t>
            </a:r>
          </a:p>
          <a:p>
            <a:pPr algn="l">
              <a:spcAft>
                <a:spcPts val="220"/>
              </a:spcAft>
            </a:pPr>
            <a:r>
              <a:rPr sz="880" b="1">
                <a:solidFill>
                  <a:srgbClr val="0E1E38"/>
                </a:solidFill>
                <a:latin typeface="Calibri"/>
              </a:rPr>
              <a:t>• LTV on On-Road Price</a:t>
            </a:r>
            <a:r>
              <a:rPr sz="880" b="0">
                <a:solidFill>
                  <a:srgbClr val="334155"/>
                </a:solidFill>
                <a:latin typeface="Calibri"/>
              </a:rPr>
              <a:t> — ≤85% New Vehicle · ≤70% Used Vehicle (≤10y old)</a:t>
            </a:r>
          </a:p>
          <a:p>
            <a:pPr algn="l">
              <a:spcAft>
                <a:spcPts val="220"/>
              </a:spcAft>
            </a:pPr>
            <a:r>
              <a:rPr sz="880" b="1">
                <a:solidFill>
                  <a:srgbClr val="0E1E38"/>
                </a:solidFill>
                <a:latin typeface="Calibri"/>
              </a:rPr>
              <a:t>• Eligible Categories</a:t>
            </a:r>
            <a:r>
              <a:rPr sz="880" b="0">
                <a:solidFill>
                  <a:srgbClr val="334155"/>
                </a:solidFill>
                <a:latin typeface="Calibri"/>
              </a:rPr>
              <a:t> — two_wheeler, four_wheeler, commercial, EV</a:t>
            </a:r>
          </a:p>
          <a:p>
            <a:pPr algn="l">
              <a:spcAft>
                <a:spcPts val="220"/>
              </a:spcAft>
            </a:pPr>
            <a:r>
              <a:rPr sz="880" b="1">
                <a:solidFill>
                  <a:srgbClr val="0E1E38"/>
                </a:solidFill>
                <a:latin typeface="Calibri"/>
              </a:rPr>
              <a:t>• Amount, Tenure &amp; Rate</a:t>
            </a:r>
            <a:r>
              <a:rPr sz="880" b="0">
                <a:solidFill>
                  <a:srgbClr val="334155"/>
                </a:solidFill>
                <a:latin typeface="Calibri"/>
              </a:rPr>
              <a:t> — ₹50K–₹50L · 84m new / 60m used / 48m comm · 9.0%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389120"/>
            <a:ext cx="5413248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4480560"/>
            <a:ext cx="5120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1B3A6B"/>
                </a:solidFill>
                <a:latin typeface="Calibri"/>
              </a:rPr>
              <a:t>DETERMINISTIC PYTHON CALCULATORS (api/calculators.py)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700016"/>
            <a:ext cx="512064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80" b="1">
                <a:solidFill>
                  <a:srgbClr val="0E1E38"/>
                </a:solidFill>
                <a:latin typeface="Calibri"/>
              </a:rPr>
              <a:t>• Reducing-Balance EMI</a:t>
            </a:r>
            <a:r>
              <a:rPr sz="880" b="0">
                <a:solidFill>
                  <a:srgbClr val="334155"/>
                </a:solidFill>
                <a:latin typeface="Calibri"/>
              </a:rPr>
              <a:t> — EMI = P × r × (1+r)^n / ((1+r)^n − 1)  [Pure Python math, 0 LLM involvement]</a:t>
            </a:r>
          </a:p>
          <a:p>
            <a:pPr algn="l">
              <a:spcAft>
                <a:spcPts val="200"/>
              </a:spcAft>
            </a:pPr>
            <a:r>
              <a:rPr sz="880" b="1">
                <a:solidFill>
                  <a:srgbClr val="0E1E38"/>
                </a:solidFill>
                <a:latin typeface="Calibri"/>
              </a:rPr>
              <a:t>• FOIR (Fixed Obligation Ratio)</a:t>
            </a:r>
            <a:r>
              <a:rPr sz="880" b="0">
                <a:solidFill>
                  <a:srgbClr val="334155"/>
                </a:solidFill>
                <a:latin typeface="Calibri"/>
              </a:rPr>
              <a:t> — FOIR = (Existing Monthly EMIs + Proposed EMI) / Monthly Net Income</a:t>
            </a:r>
          </a:p>
          <a:p>
            <a:pPr algn="l">
              <a:spcAft>
                <a:spcPts val="200"/>
              </a:spcAft>
            </a:pPr>
            <a:r>
              <a:rPr sz="880" b="1">
                <a:solidFill>
                  <a:srgbClr val="0E1E38"/>
                </a:solidFill>
                <a:latin typeface="Calibri"/>
              </a:rPr>
              <a:t>• Unified LTV Ratio</a:t>
            </a:r>
            <a:r>
              <a:rPr sz="880" b="0">
                <a:solidFill>
                  <a:srgbClr val="334155"/>
                </a:solidFill>
                <a:latin typeface="Calibri"/>
              </a:rPr>
              <a:t> — LTV = Requested Loan / Collateral Value (Property Value for HL; On-Road Price for AL)</a:t>
            </a:r>
          </a:p>
          <a:p>
            <a:pPr algn="l">
              <a:spcAft>
                <a:spcPts val="200"/>
              </a:spcAft>
            </a:pPr>
            <a:r>
              <a:rPr sz="880" b="1">
                <a:solidFill>
                  <a:srgbClr val="0E1E38"/>
                </a:solidFill>
                <a:latin typeface="Calibri"/>
              </a:rPr>
              <a:t>• Max Affordable Loan Solver</a:t>
            </a:r>
            <a:r>
              <a:rPr sz="880" b="0">
                <a:solidFill>
                  <a:srgbClr val="334155"/>
                </a:solidFill>
                <a:latin typeface="Calibri"/>
              </a:rPr>
              <a:t> — Inverts EMI formula from remaining FOIR headroom: (Max_FOIR × Income) − Existing_EMI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4389120"/>
            <a:ext cx="5431536" cy="1389888"/>
          </a:xfrm>
          <a:prstGeom prst="roundRect">
            <a:avLst>
              <a:gd name="adj" fmla="val 5000"/>
            </a:avLst>
          </a:prstGeom>
          <a:solidFill>
            <a:srgbClr val="EAF4EE"/>
          </a:solidFill>
          <a:ln w="12700">
            <a:solidFill>
              <a:srgbClr val="C6D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27648" y="4480560"/>
            <a:ext cx="5120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1F6F43"/>
                </a:solidFill>
                <a:latin typeface="Calibri"/>
              </a:rPr>
              <a:t>ZERO-TAG SEMANTIC DETECTION &amp; CONVERSATIONAL UX (api/profile_extractor.py)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4700016"/>
            <a:ext cx="512064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80" b="1">
                <a:solidFill>
                  <a:srgbClr val="1F6F43"/>
                </a:solidFill>
                <a:latin typeface="Calibri"/>
              </a:rPr>
              <a:t>• 30+ Natural Alias Mappings</a:t>
            </a:r>
            <a:r>
              <a:rPr sz="880" b="0">
                <a:solidFill>
                  <a:srgbClr val="1E4631"/>
                </a:solidFill>
                <a:latin typeface="Calibri"/>
              </a:rPr>
              <a:t> — 'house/building/flat/mortgage' → home_loan · 'car/scooter/bike/bus/EV' → auto_loan</a:t>
            </a:r>
          </a:p>
          <a:p>
            <a:pPr algn="l">
              <a:spcAft>
                <a:spcPts val="200"/>
              </a:spcAft>
            </a:pPr>
            <a:r>
              <a:rPr sz="880" b="1">
                <a:solidFill>
                  <a:srgbClr val="1F6F43"/>
                </a:solidFill>
                <a:latin typeface="Calibri"/>
              </a:rPr>
              <a:t>• Vehicle Category Inference</a:t>
            </a:r>
            <a:r>
              <a:rPr sz="880" b="0">
                <a:solidFill>
                  <a:srgbClr val="1E4631"/>
                </a:solidFill>
                <a:latin typeface="Calibri"/>
              </a:rPr>
              <a:t> — Detects two_wheeler (scooter/bike), four_wheeler (car/SUV), commercial (bus/truck)</a:t>
            </a:r>
          </a:p>
          <a:p>
            <a:pPr algn="l">
              <a:spcAft>
                <a:spcPts val="200"/>
              </a:spcAft>
            </a:pPr>
            <a:r>
              <a:rPr sz="880" b="1">
                <a:solidFill>
                  <a:srgbClr val="1F6F43"/>
                </a:solidFill>
                <a:latin typeface="Calibri"/>
              </a:rPr>
              <a:t>• Stateful Profile Merge</a:t>
            </a:r>
            <a:r>
              <a:rPr sz="880" b="0">
                <a:solidFill>
                  <a:srgbClr val="1E4631"/>
                </a:solidFill>
                <a:latin typeface="Calibri"/>
              </a:rPr>
              <a:t> — _merge_profiles(prior, new) retains known fields across turns and clears stale product fields on switch</a:t>
            </a:r>
          </a:p>
          <a:p>
            <a:pPr algn="l">
              <a:spcAft>
                <a:spcPts val="200"/>
              </a:spcAft>
            </a:pPr>
            <a:r>
              <a:rPr sz="880" b="1">
                <a:solidFill>
                  <a:srgbClr val="1F6F43"/>
                </a:solidFill>
                <a:latin typeface="Calibri"/>
              </a:rPr>
              <a:t>• Clean On-Demand Checklists</a:t>
            </a:r>
            <a:r>
              <a:rPr sz="880" b="0">
                <a:solidFill>
                  <a:srgbClr val="1E4631"/>
                </a:solidFill>
                <a:latin typeface="Calibri"/>
              </a:rPr>
              <a:t> — is_document_request() injects DOC_CHECKLISTS only when user asks about required papers/docs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88736"/>
            <a:ext cx="11045952" cy="512064"/>
          </a:xfrm>
          <a:prstGeom prst="roundRect">
            <a:avLst>
              <a:gd name="adj" fmla="val 12000"/>
            </a:avLst>
          </a:prstGeom>
          <a:solidFill>
            <a:srgbClr val="0E1E38"/>
          </a:solidFill>
          <a:ln w="12700">
            <a:solidFill>
              <a:srgbClr val="0E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94944" y="5998464"/>
            <a:ext cx="1417320" cy="292608"/>
          </a:xfrm>
          <a:prstGeom prst="roundRect">
            <a:avLst>
              <a:gd name="adj" fmla="val 20000"/>
            </a:avLst>
          </a:prstGeom>
          <a:solidFill>
            <a:srgbClr val="B5651D"/>
          </a:solidFill>
          <a:ln w="12700">
            <a:solidFill>
              <a:srgbClr val="B56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4944" y="5998464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80" b="1" i="0">
                <a:solidFill>
                  <a:srgbClr val="FFFFFF"/>
                </a:solidFill>
                <a:latin typeface="Calibri"/>
              </a:rPr>
              <a:t>POLICY HOT-SWAP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9424" y="5961888"/>
            <a:ext cx="92171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mbria"/>
              </a:rPr>
              <a:t>Promoting Personal Loan or Home Loan from v1 to v2 is a single environment variable change — zero code edits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55498"/>
            <a:ext cx="11045952" cy="2286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99281"/>
            <a:ext cx="110459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 dirty="0">
                <a:solidFill>
                  <a:srgbClr val="0E1E38"/>
                </a:solidFill>
                <a:latin typeface="Cambria"/>
              </a:rPr>
              <a:t>End-to-End Workflow &amp; Multi-Turn Demo Trace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04672"/>
            <a:ext cx="1104595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dirty="0">
                <a:solidFill>
                  <a:srgbClr val="5B6B85"/>
                </a:solidFill>
                <a:latin typeface="Calibri"/>
              </a:rPr>
              <a:t>Tracing a natural multi-turn customer conversation through every layer of </a:t>
            </a:r>
            <a:r>
              <a:rPr sz="1300" b="1" i="0" dirty="0" err="1">
                <a:solidFill>
                  <a:srgbClr val="5B6B85"/>
                </a:solidFill>
                <a:latin typeface="Calibri"/>
              </a:rPr>
              <a:t>LoanAssist</a:t>
            </a:r>
            <a:r>
              <a:rPr sz="1300" b="1" i="0" dirty="0">
                <a:solidFill>
                  <a:srgbClr val="5B6B85"/>
                </a:solidFill>
                <a:latin typeface="Calibri"/>
              </a:rPr>
              <a:t> v3 during the live demo.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1422" y="1416573"/>
            <a:ext cx="11045952" cy="658368"/>
          </a:xfrm>
          <a:prstGeom prst="roundRect">
            <a:avLst>
              <a:gd name="adj" fmla="val 8000"/>
            </a:avLst>
          </a:prstGeom>
          <a:solidFill>
            <a:srgbClr val="FBF1E6"/>
          </a:solidFill>
          <a:ln w="12700">
            <a:solidFill>
              <a:srgbClr val="E7C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49961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B5651D"/>
                </a:solidFill>
                <a:latin typeface="Calibri"/>
              </a:rPr>
              <a:t>LIVE DEMO TRACE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700784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5E3A14"/>
                </a:solidFill>
                <a:latin typeface="Calibri"/>
              </a:rPr>
              <a:t>3-Turn Natural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1481328"/>
            <a:ext cx="9281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0E1E38"/>
                </a:solidFill>
                <a:latin typeface="Calibri"/>
              </a:rPr>
              <a:t>Turn 1: “I need a house loan for a flat worth ₹80 Lakhs.”  →  Semantic Router maps 'house loan' → home_loan; asks missing fields.
Turn 2: “I am 34, salaried 3 yrs, monthly income ₹1.2L, CIBIL 740, existing EMI ₹8,000, need ₹60L for 20 yrs, down payment ₹20L.”
Turn 3: “What documents are required, and what if I reduce the loan to ₹50L?”  →  Serves HL checklist + What-If scenario comparison.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194560"/>
            <a:ext cx="3547872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76656" y="2286000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6656" y="22860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2276856"/>
            <a:ext cx="30358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1B3A6B"/>
                </a:solidFill>
                <a:latin typeface="Calibri"/>
              </a:rPr>
              <a:t>Natural Chat &amp; Session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2478024"/>
            <a:ext cx="303580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 i="0">
                <a:solidFill>
                  <a:srgbClr val="334155"/>
                </a:solidFill>
                <a:latin typeface="Calibri"/>
              </a:rPr>
              <a:t>User types naturally in Streamlit (:8501) with zero product dropdowns; session_id, history, and prior_profile are sent to FastAPI.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2194560"/>
            <a:ext cx="3547872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425696" y="2286000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25696" y="22860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6592" y="2276856"/>
            <a:ext cx="30358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1B3A6B"/>
                </a:solidFill>
                <a:latin typeface="Calibri"/>
              </a:rPr>
              <a:t>Input Guardrails &amp; PII Redaction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592" y="2478024"/>
            <a:ext cx="303580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 i="0">
                <a:solidFill>
                  <a:srgbClr val="334155"/>
                </a:solidFill>
                <a:latin typeface="Calibri"/>
              </a:rPr>
              <a:t>check_input() blocks prompt injections &amp; off-topic queries; redact_pii() masks any Aadhaar, PAN, phone, or email before logging.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5007" y="2194560"/>
            <a:ext cx="3547872" cy="768096"/>
          </a:xfrm>
          <a:prstGeom prst="roundRect">
            <a:avLst>
              <a:gd name="adj" fmla="val 8000"/>
            </a:avLst>
          </a:prstGeom>
          <a:solidFill>
            <a:srgbClr val="FBF1E6"/>
          </a:solidFill>
          <a:ln w="12700">
            <a:solidFill>
              <a:srgbClr val="E7C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174735" y="2286000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B5651D"/>
          </a:solidFill>
          <a:ln w="12700">
            <a:solidFill>
              <a:srgbClr val="B56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74735" y="22860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2" y="2276856"/>
            <a:ext cx="30358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B5651D"/>
                </a:solidFill>
                <a:latin typeface="Calibri"/>
              </a:rPr>
              <a:t>Semantic Profile Extraction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2478024"/>
            <a:ext cx="303580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 i="0">
                <a:solidFill>
                  <a:srgbClr val="334155"/>
                </a:solidFill>
                <a:latin typeface="Calibri"/>
              </a:rPr>
              <a:t>extract_profile() (temp=0) normalises 'house loan' → home_loan, converts lakhs/years, and merges Turn 1 + Turn 2 fields.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072384"/>
            <a:ext cx="3547872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76656" y="3163824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6656" y="316382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3154679"/>
            <a:ext cx="30358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1B3A6B"/>
                </a:solidFill>
                <a:latin typeface="Calibri"/>
              </a:rPr>
              <a:t>Deterministic Financial Math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" y="3355848"/>
            <a:ext cx="303580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 i="0">
                <a:solidFill>
                  <a:srgbClr val="334155"/>
                </a:solidFill>
                <a:latin typeface="Calibri"/>
              </a:rPr>
              <a:t>run_all_calculators() computes EMI = ₹52,069/mo (at 8.5%), FOIR = 50.0%, LTV = 75.0% (₹60L/₹80L), Max Loan = ₹60.0L.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5968" y="3072384"/>
            <a:ext cx="3547872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425696" y="3163824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25696" y="316382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36592" y="3154679"/>
            <a:ext cx="30358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1B3A6B"/>
                </a:solidFill>
                <a:latin typeface="Calibri"/>
              </a:rPr>
              <a:t>Python Rules Engine Evaluation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36592" y="3355848"/>
            <a:ext cx="303580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 i="0">
                <a:solidFill>
                  <a:srgbClr val="334155"/>
                </a:solidFill>
                <a:latin typeface="Calibri"/>
              </a:rPr>
              <a:t>evaluate_home_loan() runs 10 deterministic checks (HL-AGE-001..HL-TEN-001); all 10 return PASS → POTENTIALLY_ELIGIBLE.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65007" y="3072384"/>
            <a:ext cx="3547872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174735" y="3163824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74735" y="316382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85632" y="3154679"/>
            <a:ext cx="30358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1B3A6B"/>
                </a:solidFill>
                <a:latin typeface="Calibri"/>
              </a:rPr>
              <a:t>Versioned ChromaDB Retrieval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85632" y="3355848"/>
            <a:ext cx="303580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 i="0">
                <a:solidFill>
                  <a:srgbClr val="334155"/>
                </a:solidFill>
                <a:latin typeface="Calibri"/>
              </a:rPr>
              <a:t>retrieve_for_product('home_loan') pulls top-6 clauses from home_loan collection where version == 'v2' (LPQ-HL-2026-02).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3950208"/>
            <a:ext cx="3547872" cy="76809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76656" y="4041648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76656" y="404164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" y="4032504"/>
            <a:ext cx="30358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1B3A6B"/>
                </a:solidFill>
                <a:latin typeface="Calibri"/>
              </a:rPr>
              <a:t>Grounded Explanation Stream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2" y="4233672"/>
            <a:ext cx="303580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 i="0">
                <a:solidFill>
                  <a:srgbClr val="334155"/>
                </a:solidFill>
                <a:latin typeface="Calibri"/>
              </a:rPr>
              <a:t>System prompt injects computed decision, EMI/FOIR/LTV math &amp; v2 clauses; Qwen2.5 streams tokens via asyncio.Queue(20).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15968" y="3950208"/>
            <a:ext cx="3547872" cy="768096"/>
          </a:xfrm>
          <a:prstGeom prst="roundRect">
            <a:avLst>
              <a:gd name="adj" fmla="val 8000"/>
            </a:avLst>
          </a:prstGeom>
          <a:solidFill>
            <a:srgbClr val="FBF1E6"/>
          </a:solidFill>
          <a:ln w="12700">
            <a:solidFill>
              <a:srgbClr val="E7C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4425696" y="4041648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B5651D"/>
          </a:solidFill>
          <a:ln w="12700">
            <a:solidFill>
              <a:srgbClr val="B56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425696" y="404164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36592" y="4032504"/>
            <a:ext cx="30358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B5651D"/>
                </a:solidFill>
                <a:latin typeface="Calibri"/>
              </a:rPr>
              <a:t>Output Guard &amp; Citation Check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36592" y="4233672"/>
            <a:ext cx="303580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 i="0">
                <a:solidFill>
                  <a:srgbClr val="334155"/>
                </a:solidFill>
                <a:latin typeface="Calibri"/>
              </a:rPr>
              <a:t>Sentence buffer runs check_output() to block approval guarantees and verify_citations() to drop any unretrieved Rule IDs.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65007" y="3950208"/>
            <a:ext cx="3547872" cy="768096"/>
          </a:xfrm>
          <a:prstGeom prst="roundRect">
            <a:avLst>
              <a:gd name="adj" fmla="val 8000"/>
            </a:avLst>
          </a:prstGeom>
          <a:solidFill>
            <a:srgbClr val="EAF4EE"/>
          </a:solidFill>
          <a:ln w="12700">
            <a:solidFill>
              <a:srgbClr val="C6D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8174735" y="4041648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1F6F43"/>
          </a:solidFill>
          <a:ln w="12700">
            <a:solidFill>
              <a:srgbClr val="1F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174735" y="404164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85632" y="4032504"/>
            <a:ext cx="30358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1F6F43"/>
                </a:solidFill>
                <a:latin typeface="Calibri"/>
              </a:rPr>
              <a:t>UI Badges, What-If &amp; Audit Log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85632" y="4233672"/>
            <a:ext cx="303580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 i="0">
                <a:solidFill>
                  <a:srgbClr val="334155"/>
                </a:solidFill>
                <a:latin typeface="Calibri"/>
              </a:rPr>
              <a:t>UI renders green badge, KPI strip, expandable rules &amp; citations; /scenario compares alternatives; audit.jsonl records v2 trace.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66928" y="4809744"/>
            <a:ext cx="2633472" cy="475488"/>
          </a:xfrm>
          <a:prstGeom prst="roundRect">
            <a:avLst>
              <a:gd name="adj" fmla="val 10000"/>
            </a:avLst>
          </a:prstGeom>
          <a:solidFill>
            <a:srgbClr val="EAF4EE"/>
          </a:solidFill>
          <a:ln w="12700">
            <a:solidFill>
              <a:srgbClr val="C6D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58368" y="4855464"/>
            <a:ext cx="2450591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F6F43"/>
                </a:solidFill>
                <a:latin typeface="Consolas"/>
              </a:rPr>
              <a:t>POTENTIALLY_ELIGIBLE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" y="5038344"/>
            <a:ext cx="24505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 i="0">
                <a:solidFill>
                  <a:srgbClr val="334155"/>
                </a:solidFill>
                <a:latin typeface="Calibri"/>
              </a:rPr>
              <a:t>All mandatory product rules PASS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364992" y="4809744"/>
            <a:ext cx="2633472" cy="475488"/>
          </a:xfrm>
          <a:prstGeom prst="roundRect">
            <a:avLst>
              <a:gd name="adj" fmla="val 10000"/>
            </a:avLst>
          </a:prstGeom>
          <a:solidFill>
            <a:srgbClr val="FAEDE9"/>
          </a:solidFill>
          <a:ln w="12700">
            <a:solidFill>
              <a:srgbClr val="E8C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456432" y="4855464"/>
            <a:ext cx="2450591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93321F"/>
                </a:solidFill>
                <a:latin typeface="Consolas"/>
              </a:rPr>
              <a:t>NOT_ELIGIBLE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56432" y="5038344"/>
            <a:ext cx="24505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 i="0">
                <a:solidFill>
                  <a:srgbClr val="334155"/>
                </a:solidFill>
                <a:latin typeface="Calibri"/>
              </a:rPr>
              <a:t>≥1 hard rule FAILS (with remediation tips)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163056" y="4809744"/>
            <a:ext cx="2633472" cy="475488"/>
          </a:xfrm>
          <a:prstGeom prst="roundRect">
            <a:avLst>
              <a:gd name="adj" fmla="val 10000"/>
            </a:avLst>
          </a:prstGeom>
          <a:solidFill>
            <a:srgbClr val="FBF1E6"/>
          </a:solidFill>
          <a:ln w="12700">
            <a:solidFill>
              <a:srgbClr val="E7C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254496" y="4855464"/>
            <a:ext cx="2450591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B5651D"/>
                </a:solidFill>
                <a:latin typeface="Consolas"/>
              </a:rPr>
              <a:t>MANUAL_REVIEW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54496" y="5038344"/>
            <a:ext cx="24505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 i="0">
                <a:solidFill>
                  <a:srgbClr val="334155"/>
                </a:solidFill>
                <a:latin typeface="Calibri"/>
              </a:rPr>
              <a:t>Borderline CIBIL/FOIR or Used EV exception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961120" y="4809744"/>
            <a:ext cx="2633472" cy="475488"/>
          </a:xfrm>
          <a:prstGeom prst="roundRect">
            <a:avLst>
              <a:gd name="adj" fmla="val 10000"/>
            </a:avLst>
          </a:prstGeom>
          <a:solidFill>
            <a:srgbClr val="EBF2FA"/>
          </a:solidFill>
          <a:ln w="12700">
            <a:solidFill>
              <a:srgbClr val="C3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052560" y="4855464"/>
            <a:ext cx="2450591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B3A6B"/>
                </a:solidFill>
                <a:latin typeface="Consolas"/>
              </a:rPr>
              <a:t>INSUFFICIENT_INFORMATION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52560" y="5038344"/>
            <a:ext cx="24505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 i="0">
                <a:solidFill>
                  <a:srgbClr val="334155"/>
                </a:solidFill>
                <a:latin typeface="Calibri"/>
              </a:rPr>
              <a:t>Missing profile fields; asks targeted questions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66928" y="5394960"/>
            <a:ext cx="11045952" cy="987552"/>
          </a:xfrm>
          <a:prstGeom prst="roundRect">
            <a:avLst>
              <a:gd name="adj" fmla="val 8000"/>
            </a:avLst>
          </a:prstGeom>
          <a:solidFill>
            <a:srgbClr val="0E1E38"/>
          </a:solidFill>
          <a:ln w="12700">
            <a:solidFill>
              <a:srgbClr val="0E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49808" y="5486400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8595AC"/>
                </a:solidFill>
                <a:latin typeface="Calibri"/>
              </a:rPr>
              <a:t>DEMO TRACE RESULT (TURN 2)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9808" y="568756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4ADE80"/>
                </a:solidFill>
                <a:latin typeface="Cambria"/>
              </a:rPr>
              <a:t>POTENTIALLY_ELIGIBLE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9808" y="596188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8595AC"/>
                </a:solidFill>
                <a:latin typeface="Consolas"/>
              </a:rPr>
              <a:t>Home Loan · Policy LPQ-HL-2026-02 (v2)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246120" y="5486400"/>
            <a:ext cx="8183879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FFFFFF"/>
                </a:solidFill>
                <a:latin typeface="Calibri"/>
              </a:rPr>
              <a:t>All 10 Home Loan v2 rules pass: Age 34 (closes at 54 ≤ 70), Income ₹1.2L ≥ ₹40k, Salaried 36m ≥ 24m, CIBIL 740 ≥ 700, Proposed EMI ₹52,069 → FOIR 50.0% ≤ 50.0% max, LTV 75.0% ≤ 80.0% max, Down Payment 25% ≥ 20%.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46120" y="5980176"/>
            <a:ext cx="818387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 i="0">
                <a:solidFill>
                  <a:srgbClr val="FBBF24"/>
                </a:solidFill>
                <a:latin typeface="Consolas"/>
              </a:rPr>
              <a:t>verified_citations: ["HL-AGE-001", "HL-INC-001", "HL-EMP-001", "HL-CRD-001", "HL-FOIR-001", "HL-LTV-001"] · what_if_50L: {emi: ₹43,391, foir: 42.8%, ltv: 62.5%} · refused: false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73786"/>
            <a:ext cx="11045952" cy="2286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5146"/>
            <a:ext cx="110459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 dirty="0">
                <a:solidFill>
                  <a:srgbClr val="0E1E38"/>
                </a:solidFill>
                <a:latin typeface="Cambria"/>
              </a:rPr>
              <a:t>Technology Stack, CI/CD Evaluation Gates &amp;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13816"/>
            <a:ext cx="1104595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5B6B85"/>
                </a:solidFill>
                <a:latin typeface="Calibri"/>
              </a:rPr>
              <a:t>Every technology choice, our 2-stage GitHub Actions evaluation pipeline, and 3-layer guardrail verification.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92240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8595AC"/>
                </a:solidFill>
                <a:latin typeface="Calibri"/>
              </a:rPr>
              <a:t>06 / 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426464"/>
            <a:ext cx="672084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481328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Calibri"/>
              </a:rPr>
              <a:t>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1481328"/>
            <a:ext cx="2148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Calibri"/>
              </a:rPr>
              <a:t>COMPONENT / 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4528" y="1481328"/>
            <a:ext cx="2971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Calibri"/>
              </a:rPr>
              <a:t>ENGINEERING RATIONALE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700784"/>
            <a:ext cx="6720840" cy="365760"/>
          </a:xfrm>
          <a:prstGeom prst="rect">
            <a:avLst/>
          </a:prstGeom>
          <a:solidFill>
            <a:srgbClr val="F5F8FC"/>
          </a:solidFill>
          <a:ln w="635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1755648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B3A6B"/>
                </a:solidFill>
                <a:latin typeface="Calibri"/>
              </a:rPr>
              <a:t>Frontend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8" y="1755648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0E1E38"/>
                </a:solidFill>
                <a:latin typeface="Consolas"/>
              </a:rPr>
              <a:t>Streamlit · ui/chat_app.py :8501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528" y="1746504"/>
            <a:ext cx="29992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 i="0">
                <a:solidFill>
                  <a:srgbClr val="334155"/>
                </a:solidFill>
                <a:latin typeface="Calibri"/>
              </a:rPr>
              <a:t>Single-column chat, typing indicator, KPI strip, expandable rules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066544"/>
            <a:ext cx="6720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2121408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B3A6B"/>
                </a:solidFill>
                <a:latin typeface="Calibri"/>
              </a:rPr>
              <a:t>Backend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9968" y="2121408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0E1E38"/>
                </a:solidFill>
                <a:latin typeface="Consolas"/>
              </a:rPr>
              <a:t>FastAPI 3.0 + Uvicorn :8001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4528" y="2112264"/>
            <a:ext cx="29992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 i="0">
                <a:solidFill>
                  <a:srgbClr val="334155"/>
                </a:solidFill>
                <a:latin typeface="Calibri"/>
              </a:rPr>
              <a:t>Async SSE (/chat/stream) w/ Queue(20) backpressure, /ask, /scenario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432304"/>
            <a:ext cx="6720840" cy="365760"/>
          </a:xfrm>
          <a:prstGeom prst="rect">
            <a:avLst/>
          </a:prstGeom>
          <a:solidFill>
            <a:srgbClr val="F5F8FC"/>
          </a:solidFill>
          <a:ln w="635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" y="2487168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B3A6B"/>
                </a:solidFill>
                <a:latin typeface="Calibri"/>
              </a:rPr>
              <a:t>Rules &amp; Math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29968" y="2487168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0E1E38"/>
                </a:solidFill>
                <a:latin typeface="Consolas"/>
              </a:rPr>
              <a:t>rules_engine.py + calculators.py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4528" y="2478024"/>
            <a:ext cx="29992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 i="0">
                <a:solidFill>
                  <a:srgbClr val="334155"/>
                </a:solidFill>
                <a:latin typeface="Calibri"/>
              </a:rPr>
              <a:t>Pure-Python EMI/FOIR/LTV/MaxLoan + 25 deterministic PL/HL/AL rules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2798064"/>
            <a:ext cx="6720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" y="2852928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B3A6B"/>
                </a:solidFill>
                <a:latin typeface="Calibri"/>
              </a:rPr>
              <a:t>Profile &amp; Intent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29968" y="2852928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0E1E38"/>
                </a:solidFill>
                <a:latin typeface="Consolas"/>
              </a:rPr>
              <a:t>api/profile_extractor.py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4528" y="2843784"/>
            <a:ext cx="29992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 i="0">
                <a:solidFill>
                  <a:srgbClr val="334155"/>
                </a:solidFill>
                <a:latin typeface="Calibri"/>
              </a:rPr>
              <a:t>temp=0 JSON extraction, 30+ semantic loan aliases, _merge_profiles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163824"/>
            <a:ext cx="6720840" cy="365760"/>
          </a:xfrm>
          <a:prstGeom prst="rect">
            <a:avLst/>
          </a:prstGeom>
          <a:solidFill>
            <a:srgbClr val="F5F8FC"/>
          </a:solidFill>
          <a:ln w="635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" y="3218688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B3A6B"/>
                </a:solidFill>
                <a:latin typeface="Calibri"/>
              </a:rPr>
              <a:t>RAG Vector 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29968" y="3218688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0E1E38"/>
                </a:solidFill>
                <a:latin typeface="Consolas"/>
              </a:rPr>
              <a:t>ChromaDB 1.5.9 (PersistentClient)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4528" y="3209544"/>
            <a:ext cx="29992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 i="0">
                <a:solidFill>
                  <a:srgbClr val="334155"/>
                </a:solidFill>
                <a:latin typeface="Calibri"/>
              </a:rPr>
              <a:t>40 chunks across personal_loan, home_loan, auto_loan + version filter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529584"/>
            <a:ext cx="6720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" y="3584448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B3A6B"/>
                </a:solidFill>
                <a:latin typeface="Calibri"/>
              </a:rPr>
              <a:t>Embeddings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29968" y="3584448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0E1E38"/>
                </a:solidFill>
                <a:latin typeface="Consolas"/>
              </a:rPr>
              <a:t>all-MiniLM-L6-v2 (ONNX local)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24528" y="3575303"/>
            <a:ext cx="29992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 i="0">
                <a:solidFill>
                  <a:srgbClr val="334155"/>
                </a:solidFill>
                <a:latin typeface="Calibri"/>
              </a:rPr>
              <a:t>Local semantic embedding for policy clauses — zero external API cost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95344"/>
            <a:ext cx="6720840" cy="365760"/>
          </a:xfrm>
          <a:prstGeom prst="rect">
            <a:avLst/>
          </a:prstGeom>
          <a:solidFill>
            <a:srgbClr val="F5F8FC"/>
          </a:solidFill>
          <a:ln w="635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8" y="3950207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B3A6B"/>
                </a:solidFill>
                <a:latin typeface="Calibri"/>
              </a:rPr>
              <a:t>LLM &amp; Gateway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29968" y="3950207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0E1E38"/>
                </a:solidFill>
                <a:latin typeface="Consolas"/>
              </a:rPr>
              <a:t>LiteLLM :4000 → Qwen2.5-1.5B :8090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24528" y="3941063"/>
            <a:ext cx="29992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 i="0">
                <a:solidFill>
                  <a:srgbClr val="334155"/>
                </a:solidFill>
                <a:latin typeface="Calibri"/>
              </a:rPr>
              <a:t>OpenAI-compatible proxy w/ retries/fallback; local CPU model inference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261104"/>
            <a:ext cx="6720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8368" y="4315968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B3A6B"/>
                </a:solidFill>
                <a:latin typeface="Calibri"/>
              </a:rPr>
              <a:t>Prompt Registry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29968" y="4315968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0E1E38"/>
                </a:solidFill>
                <a:latin typeface="Consolas"/>
              </a:rPr>
              <a:t>prompts/registry.yaml + loader.py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24528" y="4306824"/>
            <a:ext cx="29992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 i="0">
                <a:solidFill>
                  <a:srgbClr val="334155"/>
                </a:solidFill>
                <a:latin typeface="Calibri"/>
              </a:rPr>
              <a:t>Versioned prompts (v1/v2) with owner, changelog &amp; env-var promotion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626864"/>
            <a:ext cx="6720840" cy="365760"/>
          </a:xfrm>
          <a:prstGeom prst="rect">
            <a:avLst/>
          </a:prstGeom>
          <a:solidFill>
            <a:srgbClr val="F5F8FC"/>
          </a:solidFill>
          <a:ln w="635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8368" y="4681728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B3A6B"/>
                </a:solidFill>
                <a:latin typeface="Calibri"/>
              </a:rPr>
              <a:t>Guardrails &amp; PII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29968" y="4681728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0E1E38"/>
                </a:solidFill>
                <a:latin typeface="Consolas"/>
              </a:rPr>
              <a:t>api/guardrails.py + redact.py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24528" y="4672584"/>
            <a:ext cx="29992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 i="0">
                <a:solidFill>
                  <a:srgbClr val="334155"/>
                </a:solidFill>
                <a:latin typeface="Calibri"/>
              </a:rPr>
              <a:t>Injection/topic gate in; guarantee block, PII mask &amp; citation check out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4992624"/>
            <a:ext cx="6720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8368" y="5047488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B3A6B"/>
                </a:solidFill>
                <a:latin typeface="Calibri"/>
              </a:rPr>
              <a:t>Observability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29968" y="5047488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0E1E38"/>
                </a:solidFill>
                <a:latin typeface="Consolas"/>
              </a:rPr>
              <a:t>Prometheus :9090 + Grafana + Langfuse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24528" y="5038344"/>
            <a:ext cx="29992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 i="0">
                <a:solidFill>
                  <a:srgbClr val="334155"/>
                </a:solidFill>
                <a:latin typeface="Calibri"/>
              </a:rPr>
              <a:t>Golden signals (traffic, p50/p95, errors) + versioned audit.jsonl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5358384"/>
            <a:ext cx="6720840" cy="365760"/>
          </a:xfrm>
          <a:prstGeom prst="rect">
            <a:avLst/>
          </a:prstGeom>
          <a:solidFill>
            <a:srgbClr val="F5F8FC"/>
          </a:solidFill>
          <a:ln w="635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8368" y="5413248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B3A6B"/>
                </a:solidFill>
                <a:latin typeface="Calibri"/>
              </a:rPr>
              <a:t>CI/CD Eval Gates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29968" y="5413248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0E1E38"/>
                </a:solidFill>
                <a:latin typeface="Consolas"/>
              </a:rPr>
              <a:t>pytest (80) + Promptfoo (15 cases)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24528" y="5404104"/>
            <a:ext cx="29992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 i="0">
                <a:solidFill>
                  <a:srgbClr val="334155"/>
                </a:solidFill>
                <a:latin typeface="Calibri"/>
              </a:rPr>
              <a:t>Unit tests on every push; Promptfoo eval gate blocks PRs on regression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479792" y="1426464"/>
            <a:ext cx="2011680" cy="640080"/>
          </a:xfrm>
          <a:prstGeom prst="roundRect">
            <a:avLst>
              <a:gd name="adj" fmla="val 8000"/>
            </a:avLst>
          </a:prstGeom>
          <a:solidFill>
            <a:srgbClr val="EAF4EE"/>
          </a:solidFill>
          <a:ln w="12700">
            <a:solidFill>
              <a:srgbClr val="C6D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589519" y="1481328"/>
            <a:ext cx="17922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6F43"/>
                </a:solidFill>
                <a:latin typeface="Cambria"/>
              </a:rPr>
              <a:t>80 / 80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89519" y="1792224"/>
            <a:ext cx="179222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1" i="0">
                <a:solidFill>
                  <a:srgbClr val="334155"/>
                </a:solidFill>
                <a:latin typeface="Calibri"/>
              </a:rPr>
              <a:t>Unit Tests Passing (0.16s)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582912" y="1426464"/>
            <a:ext cx="2011680" cy="640080"/>
          </a:xfrm>
          <a:prstGeom prst="roundRect">
            <a:avLst>
              <a:gd name="adj" fmla="val 8000"/>
            </a:avLst>
          </a:prstGeom>
          <a:solidFill>
            <a:srgbClr val="EBF2FA"/>
          </a:solidFill>
          <a:ln w="12700">
            <a:solidFill>
              <a:srgbClr val="C3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2640" y="1481328"/>
            <a:ext cx="17922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B3A6B"/>
                </a:solidFill>
                <a:latin typeface="Cambria"/>
              </a:rPr>
              <a:t>15 Gates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92640" y="1792224"/>
            <a:ext cx="179222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1" i="0">
                <a:solidFill>
                  <a:srgbClr val="334155"/>
                </a:solidFill>
                <a:latin typeface="Calibri"/>
              </a:rPr>
              <a:t>Promptfoo CI/CD Eval Cases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479792" y="2139696"/>
            <a:ext cx="2011680" cy="640080"/>
          </a:xfrm>
          <a:prstGeom prst="roundRect">
            <a:avLst>
              <a:gd name="adj" fmla="val 8000"/>
            </a:avLst>
          </a:prstGeom>
          <a:solidFill>
            <a:srgbClr val="FBF1E6"/>
          </a:solidFill>
          <a:ln w="12700">
            <a:solidFill>
              <a:srgbClr val="E7C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589519" y="2194560"/>
            <a:ext cx="17922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B5651D"/>
                </a:solidFill>
                <a:latin typeface="Cambria"/>
              </a:rPr>
              <a:t>100%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89519" y="2505456"/>
            <a:ext cx="179222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1" i="0">
                <a:solidFill>
                  <a:srgbClr val="334155"/>
                </a:solidFill>
                <a:latin typeface="Calibri"/>
              </a:rPr>
              <a:t>Verified Rule-ID Citations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582912" y="2139696"/>
            <a:ext cx="2011680" cy="6400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692640" y="2194560"/>
            <a:ext cx="17922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B3A6B"/>
                </a:solidFill>
                <a:latin typeface="Cambria"/>
              </a:rPr>
              <a:t>40 Chunks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92640" y="2505456"/>
            <a:ext cx="179222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1" i="0">
                <a:solidFill>
                  <a:srgbClr val="334155"/>
                </a:solidFill>
                <a:latin typeface="Calibri"/>
              </a:rPr>
              <a:t>3 Versioned Policy Collections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479792" y="2889504"/>
            <a:ext cx="4133087" cy="1426464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607808" y="2962656"/>
            <a:ext cx="38770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B3A6B"/>
                </a:solidFill>
                <a:latin typeface="Calibri"/>
              </a:rPr>
              <a:t>2-STAGE GITHUB ACTIONS GATE (.github/workflows/eval-gate.yml)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07808" y="3182112"/>
            <a:ext cx="3877056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850" b="1">
                <a:solidFill>
                  <a:srgbClr val="0E1E38"/>
                </a:solidFill>
                <a:latin typeface="Calibri"/>
              </a:rPr>
              <a:t>• Stage 1 — Every Branch Push (unit-tests)</a:t>
            </a:r>
            <a:r>
              <a:rPr sz="850" b="0">
                <a:solidFill>
                  <a:srgbClr val="334155"/>
                </a:solidFill>
                <a:latin typeface="Calibri"/>
              </a:rPr>
              <a:t> — Runs 80 deterministic pytest tests (calculators, PL/HL/AL rules, profile merge) + verifies ChromaDB ingestion (40 chunks).</a:t>
            </a:r>
          </a:p>
          <a:p>
            <a:pPr algn="l">
              <a:spcAft>
                <a:spcPts val="250"/>
              </a:spcAft>
            </a:pPr>
            <a:r>
              <a:rPr sz="850" b="1">
                <a:solidFill>
                  <a:srgbClr val="0E1E38"/>
                </a:solidFill>
                <a:latin typeface="Calibri"/>
              </a:rPr>
              <a:t>• Stage 2 — Pull Requests (eval-gate)</a:t>
            </a:r>
            <a:r>
              <a:rPr sz="850" b="0">
                <a:solidFill>
                  <a:srgbClr val="334155"/>
                </a:solidFill>
                <a:latin typeface="Calibri"/>
              </a:rPr>
              <a:t> — Starts API, runs 15 Promptfoo cases (PL-001..005, HL-001..003, AL-001..003, SEM-001, GRD-001..003) &amp; 18-case benchmark.</a:t>
            </a:r>
          </a:p>
          <a:p>
            <a:pPr algn="l">
              <a:spcAft>
                <a:spcPts val="250"/>
              </a:spcAft>
            </a:pPr>
            <a:r>
              <a:rPr sz="850" b="1">
                <a:solidFill>
                  <a:srgbClr val="0E1E38"/>
                </a:solidFill>
                <a:latin typeface="Calibri"/>
              </a:rPr>
              <a:t>• Automated Merge Protection</a:t>
            </a:r>
            <a:r>
              <a:rPr sz="850" b="0">
                <a:solidFill>
                  <a:srgbClr val="334155"/>
                </a:solidFill>
                <a:latin typeface="Calibri"/>
              </a:rPr>
              <a:t> — Blocks PR merge if decision accuracy &lt;85%, any guardrail test fails, or unverified Rule IDs appear.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479792" y="4407408"/>
            <a:ext cx="4133087" cy="1335024"/>
          </a:xfrm>
          <a:prstGeom prst="roundRect">
            <a:avLst>
              <a:gd name="adj" fmla="val 5000"/>
            </a:avLst>
          </a:prstGeom>
          <a:solidFill>
            <a:srgbClr val="FBF1E6"/>
          </a:solidFill>
          <a:ln w="12700">
            <a:solidFill>
              <a:srgbClr val="E7C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607808" y="4480560"/>
            <a:ext cx="38770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B5651D"/>
                </a:solidFill>
                <a:latin typeface="Calibri"/>
              </a:rPr>
              <a:t>3-LAYER GUARDRAILS &amp; IMMUTABLE AUDIT LOG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07808" y="4681728"/>
            <a:ext cx="3877056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B5651D"/>
                </a:solidFill>
                <a:latin typeface="Calibri"/>
              </a:rPr>
              <a:t>• Input Layer</a:t>
            </a:r>
            <a:r>
              <a:rPr sz="850" b="0">
                <a:solidFill>
                  <a:srgbClr val="5E3A14"/>
                </a:solidFill>
                <a:latin typeface="Calibri"/>
              </a:rPr>
              <a:t> — 30+ jailbreak/injection regexes + loan-domain relevance gate.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B5651D"/>
                </a:solidFill>
                <a:latin typeface="Calibri"/>
              </a:rPr>
              <a:t>• Output Layer</a:t>
            </a:r>
            <a:r>
              <a:rPr sz="850" b="0">
                <a:solidFill>
                  <a:srgbClr val="5E3A14"/>
                </a:solidFill>
                <a:latin typeface="Calibri"/>
              </a:rPr>
              <a:t> — Sentence-buffered stream check blocks 'guaranteed approval' claims.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B5651D"/>
                </a:solidFill>
                <a:latin typeface="Calibri"/>
              </a:rPr>
              <a:t>• Citation Layer</a:t>
            </a:r>
            <a:r>
              <a:rPr sz="850" b="0">
                <a:solidFill>
                  <a:srgbClr val="5E3A14"/>
                </a:solidFill>
                <a:latin typeface="Calibri"/>
              </a:rPr>
              <a:t> — Drops any cited Rule ID not present in retrieved ChromaDB chunks.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07808" y="5413248"/>
            <a:ext cx="387705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 i="0">
                <a:solidFill>
                  <a:srgbClr val="0E1E38"/>
                </a:solidFill>
                <a:latin typeface="Consolas"/>
              </a:rPr>
              <a:t>audit.jsonl: {ts, session_id, product, policy_version, decision, rule_checks[], citations[], latency_ms}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66928" y="5888736"/>
            <a:ext cx="11045952" cy="512064"/>
          </a:xfrm>
          <a:prstGeom prst="roundRect">
            <a:avLst>
              <a:gd name="adj" fmla="val 12000"/>
            </a:avLst>
          </a:prstGeom>
          <a:solidFill>
            <a:srgbClr val="0E1E38"/>
          </a:solidFill>
          <a:ln w="12700">
            <a:solidFill>
              <a:srgbClr val="0E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694944" y="5998464"/>
            <a:ext cx="1417320" cy="292608"/>
          </a:xfrm>
          <a:prstGeom prst="roundRect">
            <a:avLst>
              <a:gd name="adj" fmla="val 20000"/>
            </a:avLst>
          </a:prstGeom>
          <a:solidFill>
            <a:srgbClr val="B5651D"/>
          </a:solidFill>
          <a:ln w="12700">
            <a:solidFill>
              <a:srgbClr val="B56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94944" y="5998464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80" b="1" i="0">
                <a:solidFill>
                  <a:srgbClr val="FFFFFF"/>
                </a:solidFill>
                <a:latin typeface="Calibri"/>
              </a:rPr>
              <a:t>REGRESSION PROOF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249424" y="5961888"/>
            <a:ext cx="92171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mbria"/>
              </a:rPr>
              <a:t>Changing a policy threshold or prompt without updating expectations fails Stage 1/Stage 2 in CI and blocks the merge.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3376</Words>
  <Application>Microsoft Office PowerPoint</Application>
  <PresentationFormat>Widescreen</PresentationFormat>
  <Paragraphs>282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Mahesh Kumar</cp:lastModifiedBy>
  <cp:revision>1</cp:revision>
  <dcterms:created xsi:type="dcterms:W3CDTF">2013-01-27T09:14:16Z</dcterms:created>
  <dcterms:modified xsi:type="dcterms:W3CDTF">2026-09-26T16:11:16Z</dcterms:modified>
  <cp:category/>
</cp:coreProperties>
</file>